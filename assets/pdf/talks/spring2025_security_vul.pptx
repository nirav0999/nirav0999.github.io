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345" r:id="rId2"/>
    <p:sldId id="456" r:id="rId3"/>
    <p:sldId id="355" r:id="rId4"/>
    <p:sldId id="458" r:id="rId5"/>
    <p:sldId id="457" r:id="rId6"/>
    <p:sldId id="453" r:id="rId7"/>
    <p:sldId id="450" r:id="rId8"/>
    <p:sldId id="451" r:id="rId9"/>
    <p:sldId id="459" r:id="rId10"/>
    <p:sldId id="460" r:id="rId11"/>
    <p:sldId id="461" r:id="rId12"/>
    <p:sldId id="462" r:id="rId13"/>
    <p:sldId id="466" r:id="rId14"/>
    <p:sldId id="463" r:id="rId15"/>
    <p:sldId id="467" r:id="rId16"/>
    <p:sldId id="464" r:id="rId17"/>
    <p:sldId id="468" r:id="rId18"/>
    <p:sldId id="469" r:id="rId19"/>
    <p:sldId id="470" r:id="rId20"/>
    <p:sldId id="471" r:id="rId21"/>
    <p:sldId id="472" r:id="rId22"/>
    <p:sldId id="473" r:id="rId23"/>
    <p:sldId id="366" r:id="rId24"/>
    <p:sldId id="465" r:id="rId25"/>
    <p:sldId id="454" r:id="rId26"/>
    <p:sldId id="474" r:id="rId27"/>
    <p:sldId id="452" r:id="rId28"/>
    <p:sldId id="455" r:id="rId29"/>
    <p:sldId id="475" r:id="rId30"/>
    <p:sldId id="476" r:id="rId31"/>
    <p:sldId id="477" r:id="rId32"/>
    <p:sldId id="479" r:id="rId33"/>
    <p:sldId id="488" r:id="rId34"/>
    <p:sldId id="480" r:id="rId35"/>
    <p:sldId id="481" r:id="rId36"/>
    <p:sldId id="482" r:id="rId37"/>
    <p:sldId id="483" r:id="rId38"/>
    <p:sldId id="48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6C35"/>
    <a:srgbClr val="FF5F05"/>
    <a:srgbClr val="13294B"/>
    <a:srgbClr val="C84113"/>
    <a:srgbClr val="4B868E"/>
    <a:srgbClr val="FBB24D"/>
    <a:srgbClr val="F05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27"/>
    <p:restoredTop sz="94723"/>
  </p:normalViewPr>
  <p:slideViewPr>
    <p:cSldViewPr snapToGrid="0">
      <p:cViewPr varScale="1">
        <p:scale>
          <a:sx n="38" d="100"/>
          <a:sy n="38" d="100"/>
        </p:scale>
        <p:origin x="200" y="206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E1E9AA-346A-B3D9-794E-D00029D397C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0F56AFA-A4B7-7466-6AF7-3B946230D3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4678F-55F8-4A98-B438-1921114C3F78}" type="datetimeFigureOut">
              <a:rPr lang="en-US" smtClean="0"/>
              <a:t>4/18/25</a:t>
            </a:fld>
            <a:endParaRPr lang="en-US"/>
          </a:p>
        </p:txBody>
      </p:sp>
      <p:sp>
        <p:nvSpPr>
          <p:cNvPr id="4" name="Footer Placeholder 3">
            <a:extLst>
              <a:ext uri="{FF2B5EF4-FFF2-40B4-BE49-F238E27FC236}">
                <a16:creationId xmlns:a16="http://schemas.microsoft.com/office/drawing/2014/main" id="{30ABE0AD-401D-551F-84BA-B7639FBB7E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A98A03-EC06-4230-C305-6B23873923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E4B95-DB27-469E-87AB-81525EE3E583}" type="slidenum">
              <a:rPr lang="en-US" smtClean="0"/>
              <a:t>‹#›</a:t>
            </a:fld>
            <a:endParaRPr lang="en-US"/>
          </a:p>
        </p:txBody>
      </p:sp>
    </p:spTree>
    <p:extLst>
      <p:ext uri="{BB962C8B-B14F-4D97-AF65-F5344CB8AC3E}">
        <p14:creationId xmlns:p14="http://schemas.microsoft.com/office/powerpoint/2010/main" val="2171617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260D9-9A89-466D-AB9E-AB8EEEC5B27F}"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6F0D5-1438-4C96-931F-854E0BFC2CD2}" type="slidenum">
              <a:rPr lang="en-US" smtClean="0"/>
              <a:t>‹#›</a:t>
            </a:fld>
            <a:endParaRPr lang="en-US"/>
          </a:p>
        </p:txBody>
      </p:sp>
    </p:spTree>
    <p:extLst>
      <p:ext uri="{BB962C8B-B14F-4D97-AF65-F5344CB8AC3E}">
        <p14:creationId xmlns:p14="http://schemas.microsoft.com/office/powerpoint/2010/main" val="15874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1</a:t>
            </a:fld>
            <a:endParaRPr lang="en-US"/>
          </a:p>
        </p:txBody>
      </p:sp>
    </p:spTree>
    <p:extLst>
      <p:ext uri="{BB962C8B-B14F-4D97-AF65-F5344CB8AC3E}">
        <p14:creationId xmlns:p14="http://schemas.microsoft.com/office/powerpoint/2010/main" val="583737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3</a:t>
            </a:fld>
            <a:endParaRPr lang="en-US"/>
          </a:p>
        </p:txBody>
      </p:sp>
    </p:spTree>
    <p:extLst>
      <p:ext uri="{BB962C8B-B14F-4D97-AF65-F5344CB8AC3E}">
        <p14:creationId xmlns:p14="http://schemas.microsoft.com/office/powerpoint/2010/main" val="1310843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ACA2-E8F0-F897-1CB3-027175DBB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7E920-5199-7322-C8E9-156EEC4FD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0771E-3761-FB60-DC39-CE7D57AE30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1A2435-F329-EA24-7E8F-4D75146C8DAF}"/>
              </a:ext>
            </a:extLst>
          </p:cNvPr>
          <p:cNvSpPr>
            <a:spLocks noGrp="1"/>
          </p:cNvSpPr>
          <p:nvPr>
            <p:ph type="sldNum" sz="quarter" idx="5"/>
          </p:nvPr>
        </p:nvSpPr>
        <p:spPr/>
        <p:txBody>
          <a:bodyPr/>
          <a:lstStyle/>
          <a:p>
            <a:fld id="{B9C6F0D5-1438-4C96-931F-854E0BFC2CD2}" type="slidenum">
              <a:rPr lang="en-US" smtClean="0"/>
              <a:t>4</a:t>
            </a:fld>
            <a:endParaRPr lang="en-US"/>
          </a:p>
        </p:txBody>
      </p:sp>
    </p:spTree>
    <p:extLst>
      <p:ext uri="{BB962C8B-B14F-4D97-AF65-F5344CB8AC3E}">
        <p14:creationId xmlns:p14="http://schemas.microsoft.com/office/powerpoint/2010/main" val="937856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ECE1E-0231-5CD6-22EA-83892BB31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7C876-E299-1AEE-4565-6A767418E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C3A3A-F38D-3309-7E89-006A2E0C3E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45A175-CD8E-6337-23B6-8DC615A7D86A}"/>
              </a:ext>
            </a:extLst>
          </p:cNvPr>
          <p:cNvSpPr>
            <a:spLocks noGrp="1"/>
          </p:cNvSpPr>
          <p:nvPr>
            <p:ph type="sldNum" sz="quarter" idx="5"/>
          </p:nvPr>
        </p:nvSpPr>
        <p:spPr/>
        <p:txBody>
          <a:bodyPr/>
          <a:lstStyle/>
          <a:p>
            <a:fld id="{B9C6F0D5-1438-4C96-931F-854E0BFC2CD2}" type="slidenum">
              <a:rPr lang="en-US" smtClean="0"/>
              <a:t>5</a:t>
            </a:fld>
            <a:endParaRPr lang="en-US"/>
          </a:p>
        </p:txBody>
      </p:sp>
    </p:spTree>
    <p:extLst>
      <p:ext uri="{BB962C8B-B14F-4D97-AF65-F5344CB8AC3E}">
        <p14:creationId xmlns:p14="http://schemas.microsoft.com/office/powerpoint/2010/main" val="642563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12</a:t>
            </a:fld>
            <a:endParaRPr lang="en-US"/>
          </a:p>
        </p:txBody>
      </p:sp>
    </p:spTree>
    <p:extLst>
      <p:ext uri="{BB962C8B-B14F-4D97-AF65-F5344CB8AC3E}">
        <p14:creationId xmlns:p14="http://schemas.microsoft.com/office/powerpoint/2010/main" val="137144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00F6-301C-DEA4-EB32-CA3127EC5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FAC84-20F9-8C8B-2221-4486B135C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3894C-A844-E958-3020-3C0C6C7658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043C70-55DA-6FEA-DA9E-36FE736AF31C}"/>
              </a:ext>
            </a:extLst>
          </p:cNvPr>
          <p:cNvSpPr>
            <a:spLocks noGrp="1"/>
          </p:cNvSpPr>
          <p:nvPr>
            <p:ph type="sldNum" sz="quarter" idx="5"/>
          </p:nvPr>
        </p:nvSpPr>
        <p:spPr/>
        <p:txBody>
          <a:bodyPr/>
          <a:lstStyle/>
          <a:p>
            <a:fld id="{B9C6F0D5-1438-4C96-931F-854E0BFC2CD2}" type="slidenum">
              <a:rPr lang="en-US" smtClean="0"/>
              <a:t>13</a:t>
            </a:fld>
            <a:endParaRPr lang="en-US"/>
          </a:p>
        </p:txBody>
      </p:sp>
    </p:spTree>
    <p:extLst>
      <p:ext uri="{BB962C8B-B14F-4D97-AF65-F5344CB8AC3E}">
        <p14:creationId xmlns:p14="http://schemas.microsoft.com/office/powerpoint/2010/main" val="4031486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18</a:t>
            </a:fld>
            <a:endParaRPr lang="en-US"/>
          </a:p>
        </p:txBody>
      </p:sp>
    </p:spTree>
    <p:extLst>
      <p:ext uri="{BB962C8B-B14F-4D97-AF65-F5344CB8AC3E}">
        <p14:creationId xmlns:p14="http://schemas.microsoft.com/office/powerpoint/2010/main" val="661963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21</a:t>
            </a:fld>
            <a:endParaRPr lang="en-US"/>
          </a:p>
        </p:txBody>
      </p:sp>
    </p:spTree>
    <p:extLst>
      <p:ext uri="{BB962C8B-B14F-4D97-AF65-F5344CB8AC3E}">
        <p14:creationId xmlns:p14="http://schemas.microsoft.com/office/powerpoint/2010/main" val="1638690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560D-6EB7-0D62-062E-299B9D7E9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418A5-CBF1-2C08-22B1-B7933DCEC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FA9FB-6FB8-128A-1747-54BE2688DB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6B608A-E10D-146D-6ED2-2362BDBB8492}"/>
              </a:ext>
            </a:extLst>
          </p:cNvPr>
          <p:cNvSpPr>
            <a:spLocks noGrp="1"/>
          </p:cNvSpPr>
          <p:nvPr>
            <p:ph type="sldNum" sz="quarter" idx="5"/>
          </p:nvPr>
        </p:nvSpPr>
        <p:spPr/>
        <p:txBody>
          <a:bodyPr/>
          <a:lstStyle/>
          <a:p>
            <a:fld id="{B9C6F0D5-1438-4C96-931F-854E0BFC2CD2}" type="slidenum">
              <a:rPr lang="en-US" smtClean="0"/>
              <a:t>22</a:t>
            </a:fld>
            <a:endParaRPr lang="en-US"/>
          </a:p>
        </p:txBody>
      </p:sp>
    </p:spTree>
    <p:extLst>
      <p:ext uri="{BB962C8B-B14F-4D97-AF65-F5344CB8AC3E}">
        <p14:creationId xmlns:p14="http://schemas.microsoft.com/office/powerpoint/2010/main" val="2168125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23</a:t>
            </a:fld>
            <a:endParaRPr lang="en-US"/>
          </a:p>
        </p:txBody>
      </p:sp>
    </p:spTree>
    <p:extLst>
      <p:ext uri="{BB962C8B-B14F-4D97-AF65-F5344CB8AC3E}">
        <p14:creationId xmlns:p14="http://schemas.microsoft.com/office/powerpoint/2010/main" val="305857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24</a:t>
            </a:fld>
            <a:endParaRPr lang="en-US"/>
          </a:p>
        </p:txBody>
      </p:sp>
    </p:spTree>
    <p:extLst>
      <p:ext uri="{BB962C8B-B14F-4D97-AF65-F5344CB8AC3E}">
        <p14:creationId xmlns:p14="http://schemas.microsoft.com/office/powerpoint/2010/main" val="2959469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0B89-EF28-6047-CC7E-B40BFC048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EBADA-4F25-5806-2E31-A8A1BB557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C5CC3-BE7F-96A8-ABD7-B5D0256FBF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739A73-D311-5364-38EF-3FCE73DC7842}"/>
              </a:ext>
            </a:extLst>
          </p:cNvPr>
          <p:cNvSpPr>
            <a:spLocks noGrp="1"/>
          </p:cNvSpPr>
          <p:nvPr>
            <p:ph type="sldNum" sz="quarter" idx="5"/>
          </p:nvPr>
        </p:nvSpPr>
        <p:spPr/>
        <p:txBody>
          <a:bodyPr/>
          <a:lstStyle/>
          <a:p>
            <a:fld id="{B9C6F0D5-1438-4C96-931F-854E0BFC2CD2}" type="slidenum">
              <a:rPr lang="en-US" smtClean="0"/>
              <a:t>33</a:t>
            </a:fld>
            <a:endParaRPr lang="en-US"/>
          </a:p>
        </p:txBody>
      </p:sp>
    </p:spTree>
    <p:extLst>
      <p:ext uri="{BB962C8B-B14F-4D97-AF65-F5344CB8AC3E}">
        <p14:creationId xmlns:p14="http://schemas.microsoft.com/office/powerpoint/2010/main" val="1335429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32F4F2-6BCB-E2A6-BF14-55C777A83E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Accent">
            <a:extLst>
              <a:ext uri="{FF2B5EF4-FFF2-40B4-BE49-F238E27FC236}">
                <a16:creationId xmlns:a16="http://schemas.microsoft.com/office/drawing/2014/main" id="{A4CD8BB7-0ED5-85FC-E344-1C112A4EBA76}"/>
              </a:ext>
              <a:ext uri="{C183D7F6-B498-43B3-948B-1728B52AA6E4}">
                <adec:decorative xmlns:adec="http://schemas.microsoft.com/office/drawing/2017/decorative" val="1"/>
              </a:ext>
            </a:extLst>
          </p:cNvPr>
          <p:cNvSpPr/>
          <p:nvPr userDrawn="1"/>
        </p:nvSpPr>
        <p:spPr>
          <a:xfrm>
            <a:off x="2895872" y="1832610"/>
            <a:ext cx="95250"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itle 6">
            <a:extLst>
              <a:ext uri="{FF2B5EF4-FFF2-40B4-BE49-F238E27FC236}">
                <a16:creationId xmlns:a16="http://schemas.microsoft.com/office/drawing/2014/main" id="{6C5F9852-BDFC-7251-F9A8-98DEA10266ED}"/>
              </a:ext>
            </a:extLst>
          </p:cNvPr>
          <p:cNvSpPr>
            <a:spLocks noGrp="1"/>
          </p:cNvSpPr>
          <p:nvPr>
            <p:ph type="title" hasCustomPrompt="1"/>
          </p:nvPr>
        </p:nvSpPr>
        <p:spPr>
          <a:xfrm>
            <a:off x="3283131" y="1958297"/>
            <a:ext cx="8569236" cy="1614486"/>
          </a:xfrm>
        </p:spPr>
        <p:txBody>
          <a:bodyPr anchor="t">
            <a:normAutofit/>
          </a:bodyPr>
          <a:lstStyle>
            <a:lvl1pPr algn="ctr">
              <a:defRPr sz="6000">
                <a:solidFill>
                  <a:schemeClr val="bg1"/>
                </a:solidFill>
              </a:defRPr>
            </a:lvl1pPr>
          </a:lstStyle>
          <a:p>
            <a:r>
              <a:rPr lang="en-US"/>
              <a:t>Presentation Title</a:t>
            </a:r>
          </a:p>
        </p:txBody>
      </p:sp>
      <p:sp>
        <p:nvSpPr>
          <p:cNvPr id="12" name="Department/unit name placeholder">
            <a:extLst>
              <a:ext uri="{FF2B5EF4-FFF2-40B4-BE49-F238E27FC236}">
                <a16:creationId xmlns:a16="http://schemas.microsoft.com/office/drawing/2014/main" id="{497620D0-FD2F-C1C0-438F-BA156FAA85AB}"/>
              </a:ext>
            </a:extLst>
          </p:cNvPr>
          <p:cNvSpPr>
            <a:spLocks noGrp="1"/>
          </p:cNvSpPr>
          <p:nvPr>
            <p:ph type="body" sz="quarter" idx="11" hasCustomPrompt="1"/>
          </p:nvPr>
        </p:nvSpPr>
        <p:spPr>
          <a:xfrm>
            <a:off x="3285601" y="3489452"/>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8" name="Date Placeholder">
            <a:extLst>
              <a:ext uri="{FF2B5EF4-FFF2-40B4-BE49-F238E27FC236}">
                <a16:creationId xmlns:a16="http://schemas.microsoft.com/office/drawing/2014/main" id="{D3A57C1C-6F1A-1705-E0D4-BE50DA86250D}"/>
              </a:ext>
            </a:extLst>
          </p:cNvPr>
          <p:cNvSpPr>
            <a:spLocks noGrp="1"/>
          </p:cNvSpPr>
          <p:nvPr>
            <p:ph type="body" sz="quarter" idx="12" hasCustomPrompt="1"/>
          </p:nvPr>
        </p:nvSpPr>
        <p:spPr>
          <a:xfrm>
            <a:off x="3285601" y="4257421"/>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421001931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36CFC5-9FDA-B7CC-A0E8-9E2C8CF523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9" y="0"/>
            <a:ext cx="12180722" cy="6858000"/>
          </a:xfrm>
          <a:prstGeom prst="rect">
            <a:avLst/>
          </a:prstGeom>
        </p:spPr>
      </p:pic>
      <p:sp>
        <p:nvSpPr>
          <p:cNvPr id="11" name="Title Accent">
            <a:extLst>
              <a:ext uri="{FF2B5EF4-FFF2-40B4-BE49-F238E27FC236}">
                <a16:creationId xmlns:a16="http://schemas.microsoft.com/office/drawing/2014/main" id="{774D0FFC-1870-3AC0-2920-9F9EA3F5B374}"/>
              </a:ext>
              <a:ext uri="{C183D7F6-B498-43B3-948B-1728B52AA6E4}">
                <adec:decorative xmlns:adec="http://schemas.microsoft.com/office/drawing/2017/decorative" val="1"/>
              </a:ext>
            </a:extLst>
          </p:cNvPr>
          <p:cNvSpPr/>
          <p:nvPr userDrawn="1"/>
        </p:nvSpPr>
        <p:spPr>
          <a:xfrm>
            <a:off x="2895872" y="1832610"/>
            <a:ext cx="95250"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itle 6">
            <a:extLst>
              <a:ext uri="{FF2B5EF4-FFF2-40B4-BE49-F238E27FC236}">
                <a16:creationId xmlns:a16="http://schemas.microsoft.com/office/drawing/2014/main" id="{967BB4B5-6DC9-4239-4EE4-8B3B8C0683DB}"/>
              </a:ext>
            </a:extLst>
          </p:cNvPr>
          <p:cNvSpPr>
            <a:spLocks noGrp="1"/>
          </p:cNvSpPr>
          <p:nvPr>
            <p:ph type="title" hasCustomPrompt="1"/>
          </p:nvPr>
        </p:nvSpPr>
        <p:spPr>
          <a:xfrm>
            <a:off x="3283131" y="1958297"/>
            <a:ext cx="8569236" cy="1614486"/>
          </a:xfrm>
        </p:spPr>
        <p:txBody>
          <a:bodyPr anchor="t">
            <a:normAutofit/>
          </a:bodyPr>
          <a:lstStyle>
            <a:lvl1pPr algn="ctr">
              <a:defRPr sz="6000">
                <a:solidFill>
                  <a:schemeClr val="bg1"/>
                </a:solidFill>
              </a:defRPr>
            </a:lvl1pPr>
          </a:lstStyle>
          <a:p>
            <a:r>
              <a:rPr lang="en-US"/>
              <a:t>Presentation Title</a:t>
            </a:r>
          </a:p>
        </p:txBody>
      </p:sp>
      <p:sp>
        <p:nvSpPr>
          <p:cNvPr id="9" name="Department/unit name placeholder">
            <a:extLst>
              <a:ext uri="{FF2B5EF4-FFF2-40B4-BE49-F238E27FC236}">
                <a16:creationId xmlns:a16="http://schemas.microsoft.com/office/drawing/2014/main" id="{9CCA8B6C-53BF-DD2E-3863-4C111973577F}"/>
              </a:ext>
            </a:extLst>
          </p:cNvPr>
          <p:cNvSpPr>
            <a:spLocks noGrp="1"/>
          </p:cNvSpPr>
          <p:nvPr>
            <p:ph type="body" sz="quarter" idx="11" hasCustomPrompt="1"/>
          </p:nvPr>
        </p:nvSpPr>
        <p:spPr>
          <a:xfrm>
            <a:off x="3285601" y="3489452"/>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10" name="Date Placeholder">
            <a:extLst>
              <a:ext uri="{FF2B5EF4-FFF2-40B4-BE49-F238E27FC236}">
                <a16:creationId xmlns:a16="http://schemas.microsoft.com/office/drawing/2014/main" id="{609F09B9-AFB9-1195-67C0-6A06E8B36166}"/>
              </a:ext>
            </a:extLst>
          </p:cNvPr>
          <p:cNvSpPr>
            <a:spLocks noGrp="1"/>
          </p:cNvSpPr>
          <p:nvPr>
            <p:ph type="body" sz="quarter" idx="12" hasCustomPrompt="1"/>
          </p:nvPr>
        </p:nvSpPr>
        <p:spPr>
          <a:xfrm>
            <a:off x="3285601" y="4257421"/>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2275391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C2C3DC9-CBAF-E0AA-9E07-BE81DC638CD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4" cy="6856612"/>
          </a:xfrm>
          <a:prstGeom prst="rect">
            <a:avLst/>
          </a:prstGeom>
        </p:spPr>
      </p:pic>
      <p:pic>
        <p:nvPicPr>
          <p:cNvPr id="2" name="Block I">
            <a:extLst>
              <a:ext uri="{FF2B5EF4-FFF2-40B4-BE49-F238E27FC236}">
                <a16:creationId xmlns:a16="http://schemas.microsoft.com/office/drawing/2014/main" id="{F622F3C3-0B66-1EFA-7644-C9486EB60C0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8" name="Title 6">
            <a:extLst>
              <a:ext uri="{FF2B5EF4-FFF2-40B4-BE49-F238E27FC236}">
                <a16:creationId xmlns:a16="http://schemas.microsoft.com/office/drawing/2014/main" id="{7BC0581F-68FE-3796-A22D-5418171CE351}"/>
              </a:ext>
            </a:extLst>
          </p:cNvPr>
          <p:cNvSpPr>
            <a:spLocks noGrp="1"/>
          </p:cNvSpPr>
          <p:nvPr>
            <p:ph type="title" hasCustomPrompt="1"/>
          </p:nvPr>
        </p:nvSpPr>
        <p:spPr>
          <a:xfrm>
            <a:off x="0" y="2163545"/>
            <a:ext cx="12189530" cy="1614487"/>
          </a:xfrm>
        </p:spPr>
        <p:txBody>
          <a:bodyPr anchor="t">
            <a:normAutofit/>
          </a:bodyPr>
          <a:lstStyle>
            <a:lvl1pPr algn="ctr">
              <a:defRPr sz="6000">
                <a:solidFill>
                  <a:schemeClr val="bg1"/>
                </a:solidFill>
              </a:defRPr>
            </a:lvl1pPr>
          </a:lstStyle>
          <a:p>
            <a:r>
              <a:rPr lang="en-US"/>
              <a:t>Presentation Title</a:t>
            </a:r>
          </a:p>
        </p:txBody>
      </p:sp>
      <p:sp>
        <p:nvSpPr>
          <p:cNvPr id="4" name="Department/Unit name Placeholder">
            <a:extLst>
              <a:ext uri="{FF2B5EF4-FFF2-40B4-BE49-F238E27FC236}">
                <a16:creationId xmlns:a16="http://schemas.microsoft.com/office/drawing/2014/main" id="{3E44D2A3-C965-C633-19E4-D7543644A742}"/>
              </a:ext>
            </a:extLst>
          </p:cNvPr>
          <p:cNvSpPr>
            <a:spLocks noGrp="1"/>
          </p:cNvSpPr>
          <p:nvPr>
            <p:ph type="body" sz="quarter" idx="11" hasCustomPrompt="1"/>
          </p:nvPr>
        </p:nvSpPr>
        <p:spPr>
          <a:xfrm>
            <a:off x="2471" y="3694701"/>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6" name="Date Placeholder">
            <a:extLst>
              <a:ext uri="{FF2B5EF4-FFF2-40B4-BE49-F238E27FC236}">
                <a16:creationId xmlns:a16="http://schemas.microsoft.com/office/drawing/2014/main" id="{A11F428D-6D39-7B6D-AFE8-65D4134A9969}"/>
              </a:ext>
            </a:extLst>
          </p:cNvPr>
          <p:cNvSpPr>
            <a:spLocks noGrp="1"/>
          </p:cNvSpPr>
          <p:nvPr>
            <p:ph type="body" sz="quarter" idx="12" hasCustomPrompt="1"/>
          </p:nvPr>
        </p:nvSpPr>
        <p:spPr>
          <a:xfrm>
            <a:off x="0" y="4500134"/>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2488190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4A6F8600-C465-A237-F197-C96A708B3AE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9" y="3172"/>
            <a:ext cx="12180721" cy="6851656"/>
          </a:xfrm>
          <a:prstGeom prst="rect">
            <a:avLst/>
          </a:prstGeom>
        </p:spPr>
      </p:pic>
      <p:pic>
        <p:nvPicPr>
          <p:cNvPr id="2" name="Block I">
            <a:extLst>
              <a:ext uri="{FF2B5EF4-FFF2-40B4-BE49-F238E27FC236}">
                <a16:creationId xmlns:a16="http://schemas.microsoft.com/office/drawing/2014/main" id="{D8D43620-9928-A654-AC46-BED2B131FC8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4" name="Title 6">
            <a:extLst>
              <a:ext uri="{FF2B5EF4-FFF2-40B4-BE49-F238E27FC236}">
                <a16:creationId xmlns:a16="http://schemas.microsoft.com/office/drawing/2014/main" id="{68582E55-19DE-D3A6-A102-BEE797FEFA7B}"/>
              </a:ext>
            </a:extLst>
          </p:cNvPr>
          <p:cNvSpPr>
            <a:spLocks noGrp="1"/>
          </p:cNvSpPr>
          <p:nvPr>
            <p:ph type="title" hasCustomPrompt="1"/>
          </p:nvPr>
        </p:nvSpPr>
        <p:spPr>
          <a:xfrm>
            <a:off x="0" y="2163545"/>
            <a:ext cx="12189530" cy="1614487"/>
          </a:xfrm>
        </p:spPr>
        <p:txBody>
          <a:bodyPr anchor="t">
            <a:normAutofit/>
          </a:bodyPr>
          <a:lstStyle>
            <a:lvl1pPr algn="ctr">
              <a:defRPr sz="6000">
                <a:solidFill>
                  <a:schemeClr val="bg1"/>
                </a:solidFill>
              </a:defRPr>
            </a:lvl1pPr>
          </a:lstStyle>
          <a:p>
            <a:r>
              <a:rPr lang="en-US"/>
              <a:t>Presentation Title</a:t>
            </a:r>
          </a:p>
        </p:txBody>
      </p:sp>
      <p:sp>
        <p:nvSpPr>
          <p:cNvPr id="5" name="Department/Name Placeholder">
            <a:extLst>
              <a:ext uri="{FF2B5EF4-FFF2-40B4-BE49-F238E27FC236}">
                <a16:creationId xmlns:a16="http://schemas.microsoft.com/office/drawing/2014/main" id="{87E33E8E-94EC-D6F0-814A-4EDAFDEC863F}"/>
              </a:ext>
            </a:extLst>
          </p:cNvPr>
          <p:cNvSpPr>
            <a:spLocks noGrp="1"/>
          </p:cNvSpPr>
          <p:nvPr>
            <p:ph type="body" sz="quarter" idx="11" hasCustomPrompt="1"/>
          </p:nvPr>
        </p:nvSpPr>
        <p:spPr>
          <a:xfrm>
            <a:off x="2471" y="3694701"/>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6" name="Date Placeholder">
            <a:extLst>
              <a:ext uri="{FF2B5EF4-FFF2-40B4-BE49-F238E27FC236}">
                <a16:creationId xmlns:a16="http://schemas.microsoft.com/office/drawing/2014/main" id="{53FE06C4-A829-23E6-0677-AB297591F4CC}"/>
              </a:ext>
            </a:extLst>
          </p:cNvPr>
          <p:cNvSpPr>
            <a:spLocks noGrp="1"/>
          </p:cNvSpPr>
          <p:nvPr>
            <p:ph type="body" sz="quarter" idx="12" hasCustomPrompt="1"/>
          </p:nvPr>
        </p:nvSpPr>
        <p:spPr>
          <a:xfrm>
            <a:off x="0" y="4500134"/>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4142582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7055D02D-3326-7573-A3C0-A19814EBC3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2" cy="6856612"/>
          </a:xfrm>
          <a:prstGeom prst="rect">
            <a:avLst/>
          </a:prstGeom>
        </p:spPr>
      </p:pic>
      <p:pic>
        <p:nvPicPr>
          <p:cNvPr id="15" name="Block I">
            <a:extLst>
              <a:ext uri="{FF2B5EF4-FFF2-40B4-BE49-F238E27FC236}">
                <a16:creationId xmlns:a16="http://schemas.microsoft.com/office/drawing/2014/main" id="{193783E6-EE13-4530-A988-B4868B4965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11" name="Title Accent">
            <a:extLst>
              <a:ext uri="{FF2B5EF4-FFF2-40B4-BE49-F238E27FC236}">
                <a16:creationId xmlns:a16="http://schemas.microsoft.com/office/drawing/2014/main" id="{BBEA2DE4-2385-495C-A616-BF4D8C4AE721}"/>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itle Placeholder">
            <a:extLst>
              <a:ext uri="{FF2B5EF4-FFF2-40B4-BE49-F238E27FC236}">
                <a16:creationId xmlns:a16="http://schemas.microsoft.com/office/drawing/2014/main" id="{4A50B919-1C53-82C7-0ADF-4D7B6064495F}"/>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24" name="Subtitle Placeholder">
            <a:extLst>
              <a:ext uri="{FF2B5EF4-FFF2-40B4-BE49-F238E27FC236}">
                <a16:creationId xmlns:a16="http://schemas.microsoft.com/office/drawing/2014/main" id="{E14BE4D4-A7FC-9557-3271-D4088C04E79B}"/>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32" name="Department/unit name Placeholder">
            <a:extLst>
              <a:ext uri="{FF2B5EF4-FFF2-40B4-BE49-F238E27FC236}">
                <a16:creationId xmlns:a16="http://schemas.microsoft.com/office/drawing/2014/main" id="{5CA5320C-70CA-7F64-3D32-B994D01BD608}"/>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6" name="Slide Number Placeholder">
            <a:extLst>
              <a:ext uri="{FF2B5EF4-FFF2-40B4-BE49-F238E27FC236}">
                <a16:creationId xmlns:a16="http://schemas.microsoft.com/office/drawing/2014/main" id="{2D0D6A88-2FF4-ED2F-DB76-9BB2C9C00F37}"/>
              </a:ext>
              <a:ext uri="{C183D7F6-B498-43B3-948B-1728B52AA6E4}">
                <adec:decorative xmlns:adec="http://schemas.microsoft.com/office/drawing/2017/decorative" val="1"/>
              </a:ext>
            </a:extLst>
          </p:cNvPr>
          <p:cNvSpPr>
            <a:spLocks noGrp="1"/>
          </p:cNvSpPr>
          <p:nvPr>
            <p:ph type="sldNum" sz="quarter" idx="14"/>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76884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493BA29-88DB-9209-4439-6C9327AE69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3" cy="6856612"/>
          </a:xfrm>
          <a:prstGeom prst="rect">
            <a:avLst/>
          </a:prstGeom>
        </p:spPr>
      </p:pic>
      <p:pic>
        <p:nvPicPr>
          <p:cNvPr id="10" name="Block I">
            <a:extLst>
              <a:ext uri="{FF2B5EF4-FFF2-40B4-BE49-F238E27FC236}">
                <a16:creationId xmlns:a16="http://schemas.microsoft.com/office/drawing/2014/main" id="{72E36FC3-13D9-5B7F-F024-ECE203ECE59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7" name="Title Accent">
            <a:extLst>
              <a:ext uri="{FF2B5EF4-FFF2-40B4-BE49-F238E27FC236}">
                <a16:creationId xmlns:a16="http://schemas.microsoft.com/office/drawing/2014/main" id="{70DB334B-58BA-FA46-760E-299BA028B952}"/>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itle Placeholder">
            <a:extLst>
              <a:ext uri="{FF2B5EF4-FFF2-40B4-BE49-F238E27FC236}">
                <a16:creationId xmlns:a16="http://schemas.microsoft.com/office/drawing/2014/main" id="{9022AEE9-9854-64A4-8425-2C701E7B8A64}"/>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9" name="Subtitle Placeholder">
            <a:extLst>
              <a:ext uri="{FF2B5EF4-FFF2-40B4-BE49-F238E27FC236}">
                <a16:creationId xmlns:a16="http://schemas.microsoft.com/office/drawing/2014/main" id="{06092AA5-D5FE-2CF4-EDF1-CED258F3F204}"/>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1A96EBAC-4595-0697-28AB-2D8283139385}"/>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B004C974-18EE-90F8-50C2-6B74362B7EB0}"/>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01273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3">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4E2EB510-CA6D-090B-7475-EB8A202EE1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2" cy="6856612"/>
          </a:xfrm>
          <a:prstGeom prst="rect">
            <a:avLst/>
          </a:prstGeom>
        </p:spPr>
      </p:pic>
      <p:pic>
        <p:nvPicPr>
          <p:cNvPr id="10" name="Block I">
            <a:extLst>
              <a:ext uri="{FF2B5EF4-FFF2-40B4-BE49-F238E27FC236}">
                <a16:creationId xmlns:a16="http://schemas.microsoft.com/office/drawing/2014/main" id="{68FCE613-86B1-45E6-BB32-58EB7FA4BA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5" name="Title accent">
            <a:extLst>
              <a:ext uri="{FF2B5EF4-FFF2-40B4-BE49-F238E27FC236}">
                <a16:creationId xmlns:a16="http://schemas.microsoft.com/office/drawing/2014/main" id="{9D88B7D3-8E4C-8BC3-801C-DEA164218AD9}"/>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Placeholder">
            <a:extLst>
              <a:ext uri="{FF2B5EF4-FFF2-40B4-BE49-F238E27FC236}">
                <a16:creationId xmlns:a16="http://schemas.microsoft.com/office/drawing/2014/main" id="{DB230F21-1FBA-D776-0144-95076DA261C2}"/>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7" name="Subtitle Placeholder">
            <a:extLst>
              <a:ext uri="{FF2B5EF4-FFF2-40B4-BE49-F238E27FC236}">
                <a16:creationId xmlns:a16="http://schemas.microsoft.com/office/drawing/2014/main" id="{1BA84641-52D3-F667-A202-043557B06E8C}"/>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734D93D2-3734-2540-A03F-C47C6DD21233}"/>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45E21822-BD18-9D54-B62B-8E5D54BCF3BE}"/>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88133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4">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2F9A8B31-E9F1-E958-5770-0E4DC6EC1F2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5" name="Block I">
            <a:extLst>
              <a:ext uri="{FF2B5EF4-FFF2-40B4-BE49-F238E27FC236}">
                <a16:creationId xmlns:a16="http://schemas.microsoft.com/office/drawing/2014/main" id="{372EC9F4-B30C-7841-50F3-CAE581C4ACF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6" name="Title Accent">
            <a:extLst>
              <a:ext uri="{FF2B5EF4-FFF2-40B4-BE49-F238E27FC236}">
                <a16:creationId xmlns:a16="http://schemas.microsoft.com/office/drawing/2014/main" id="{7F62A38B-0BBB-7A39-BE3D-4B696AE8F248}"/>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itle Placeholder">
            <a:extLst>
              <a:ext uri="{FF2B5EF4-FFF2-40B4-BE49-F238E27FC236}">
                <a16:creationId xmlns:a16="http://schemas.microsoft.com/office/drawing/2014/main" id="{C8C38F5E-9BC0-719F-02FF-D9B0010B4E12}"/>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8" name="Subtitle Placeholder">
            <a:extLst>
              <a:ext uri="{FF2B5EF4-FFF2-40B4-BE49-F238E27FC236}">
                <a16:creationId xmlns:a16="http://schemas.microsoft.com/office/drawing/2014/main" id="{93DA8837-8538-EC91-4522-8F7D0204BE34}"/>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C3874A56-F068-73F4-0F8E-2728FC25B40F}"/>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FD4F4EDB-DDC3-8969-B1D8-C97542C1EFDC}"/>
              </a:ext>
              <a:ext uri="{C183D7F6-B498-43B3-948B-1728B52AA6E4}">
                <adec:decorative xmlns:adec="http://schemas.microsoft.com/office/drawing/2017/decorative" val="1"/>
              </a:ext>
            </a:extLst>
          </p:cNvPr>
          <p:cNvSpPr>
            <a:spLocks noGrp="1"/>
          </p:cNvSpPr>
          <p:nvPr>
            <p:ph type="sldNum" sz="quarter" idx="16"/>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09673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ansition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B2C5E3-2C50-D5D2-E1FB-085CFA8C046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pic>
        <p:nvPicPr>
          <p:cNvPr id="5" name="Block I">
            <a:extLst>
              <a:ext uri="{FF2B5EF4-FFF2-40B4-BE49-F238E27FC236}">
                <a16:creationId xmlns:a16="http://schemas.microsoft.com/office/drawing/2014/main" id="{B6F3FFB3-15FF-5FEF-255A-ED6AEE9D57D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15" name="Title underscore">
            <a:extLst>
              <a:ext uri="{FF2B5EF4-FFF2-40B4-BE49-F238E27FC236}">
                <a16:creationId xmlns:a16="http://schemas.microsoft.com/office/drawing/2014/main" id="{73C213B8-2261-4AAB-8CED-8BDC7849CB49}"/>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 name="Title Placeholder">
            <a:extLst>
              <a:ext uri="{FF2B5EF4-FFF2-40B4-BE49-F238E27FC236}">
                <a16:creationId xmlns:a16="http://schemas.microsoft.com/office/drawing/2014/main" id="{F7E785B2-7E34-E0D4-0458-2031C02479F1}"/>
              </a:ext>
            </a:extLst>
          </p:cNvPr>
          <p:cNvSpPr>
            <a:spLocks noGrp="1"/>
          </p:cNvSpPr>
          <p:nvPr>
            <p:ph type="title" hasCustomPrompt="1"/>
          </p:nvPr>
        </p:nvSpPr>
        <p:spPr>
          <a:xfrm>
            <a:off x="838200" y="2687996"/>
            <a:ext cx="10515600" cy="1325563"/>
          </a:xfrm>
        </p:spPr>
        <p:txBody>
          <a:bodyPr/>
          <a:lstStyle>
            <a:lvl1pPr algn="ctr">
              <a:defRPr sz="6000">
                <a:solidFill>
                  <a:schemeClr val="bg1"/>
                </a:solidFill>
              </a:defRPr>
            </a:lvl1pPr>
          </a:lstStyle>
          <a:p>
            <a:r>
              <a:rPr lang="en-US"/>
              <a:t>Heading</a:t>
            </a:r>
          </a:p>
        </p:txBody>
      </p:sp>
      <p:sp>
        <p:nvSpPr>
          <p:cNvPr id="14" name="Department/Unit name Placeholder">
            <a:extLst>
              <a:ext uri="{FF2B5EF4-FFF2-40B4-BE49-F238E27FC236}">
                <a16:creationId xmlns:a16="http://schemas.microsoft.com/office/drawing/2014/main" id="{43F3769A-076E-8C78-317D-5BCB57976EF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10" name="Slide Number Placeholder">
            <a:extLst>
              <a:ext uri="{FF2B5EF4-FFF2-40B4-BE49-F238E27FC236}">
                <a16:creationId xmlns:a16="http://schemas.microsoft.com/office/drawing/2014/main" id="{576D1151-1586-A4CD-17CD-700A8ECAB74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296970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Slid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30D879-E427-F595-A720-AD68F45BEB6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1" name="Block I">
            <a:extLst>
              <a:ext uri="{FF2B5EF4-FFF2-40B4-BE49-F238E27FC236}">
                <a16:creationId xmlns:a16="http://schemas.microsoft.com/office/drawing/2014/main" id="{03433787-1CFF-45E7-AF8C-BD6DE67D413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5" y="277804"/>
            <a:ext cx="528575" cy="764797"/>
          </a:xfrm>
          <a:prstGeom prst="rect">
            <a:avLst/>
          </a:prstGeom>
        </p:spPr>
      </p:pic>
      <p:sp>
        <p:nvSpPr>
          <p:cNvPr id="10" name="Title underscore">
            <a:extLst>
              <a:ext uri="{FF2B5EF4-FFF2-40B4-BE49-F238E27FC236}">
                <a16:creationId xmlns:a16="http://schemas.microsoft.com/office/drawing/2014/main" id="{9AB7A58C-6DBD-4739-B4B2-CF600754B16F}"/>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Title Placeholder">
            <a:extLst>
              <a:ext uri="{FF2B5EF4-FFF2-40B4-BE49-F238E27FC236}">
                <a16:creationId xmlns:a16="http://schemas.microsoft.com/office/drawing/2014/main" id="{1E358E9E-D14A-D868-718C-3F41147F1E52}"/>
              </a:ext>
            </a:extLst>
          </p:cNvPr>
          <p:cNvSpPr>
            <a:spLocks noGrp="1"/>
          </p:cNvSpPr>
          <p:nvPr>
            <p:ph type="title" hasCustomPrompt="1"/>
          </p:nvPr>
        </p:nvSpPr>
        <p:spPr>
          <a:xfrm>
            <a:off x="838200" y="2687996"/>
            <a:ext cx="10515600" cy="1325563"/>
          </a:xfrm>
        </p:spPr>
        <p:txBody>
          <a:bodyPr/>
          <a:lstStyle>
            <a:lvl1pPr algn="ctr">
              <a:defRPr sz="6000">
                <a:solidFill>
                  <a:schemeClr val="bg1"/>
                </a:solidFill>
              </a:defRPr>
            </a:lvl1pPr>
          </a:lstStyle>
          <a:p>
            <a:r>
              <a:rPr lang="en-US"/>
              <a:t>Heading</a:t>
            </a:r>
          </a:p>
        </p:txBody>
      </p:sp>
      <p:sp>
        <p:nvSpPr>
          <p:cNvPr id="12" name="Department/Unit name Placeholder">
            <a:extLst>
              <a:ext uri="{FF2B5EF4-FFF2-40B4-BE49-F238E27FC236}">
                <a16:creationId xmlns:a16="http://schemas.microsoft.com/office/drawing/2014/main" id="{5A4D42FD-F2CE-B461-42FC-B7365425E02A}"/>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0C86609E-3488-AC7D-5BCD-1999D3DF71D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385533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4" name="Title Accent">
            <a:extLst>
              <a:ext uri="{FF2B5EF4-FFF2-40B4-BE49-F238E27FC236}">
                <a16:creationId xmlns:a16="http://schemas.microsoft.com/office/drawing/2014/main" id="{D0364173-A96F-9FE3-06E5-5B39DC86E4E6}"/>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6" name="Block I">
            <a:extLst>
              <a:ext uri="{FF2B5EF4-FFF2-40B4-BE49-F238E27FC236}">
                <a16:creationId xmlns:a16="http://schemas.microsoft.com/office/drawing/2014/main" id="{476E0D61-C12B-4A74-FA1D-11D7952A03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Footer background">
            <a:extLst>
              <a:ext uri="{FF2B5EF4-FFF2-40B4-BE49-F238E27FC236}">
                <a16:creationId xmlns:a16="http://schemas.microsoft.com/office/drawing/2014/main" id="{0D56C456-94C5-4B92-7452-76C649BE7F4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2F5268-A885-7E39-998A-D50E2D26FA32}"/>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0" name="Text Placeholder 1">
            <a:extLst>
              <a:ext uri="{FF2B5EF4-FFF2-40B4-BE49-F238E27FC236}">
                <a16:creationId xmlns:a16="http://schemas.microsoft.com/office/drawing/2014/main" id="{5F48C7DE-94AB-9076-4335-F5D9A305B38D}"/>
              </a:ext>
            </a:extLst>
          </p:cNvPr>
          <p:cNvSpPr>
            <a:spLocks noGrp="1"/>
          </p:cNvSpPr>
          <p:nvPr>
            <p:ph type="body" sz="quarter" idx="20"/>
          </p:nvPr>
        </p:nvSpPr>
        <p:spPr>
          <a:xfrm>
            <a:off x="652463" y="1795749"/>
            <a:ext cx="10370190" cy="412030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8" name="Department/Unit name Placeholder">
            <a:extLst>
              <a:ext uri="{FF2B5EF4-FFF2-40B4-BE49-F238E27FC236}">
                <a16:creationId xmlns:a16="http://schemas.microsoft.com/office/drawing/2014/main" id="{B033ED9C-0B52-487F-8BD5-11759DAF6A37}"/>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9" name="Slide Number Placeholder">
            <a:extLst>
              <a:ext uri="{FF2B5EF4-FFF2-40B4-BE49-F238E27FC236}">
                <a16:creationId xmlns:a16="http://schemas.microsoft.com/office/drawing/2014/main" id="{08AAFB27-B643-3132-E0CD-89C471BF4A88}"/>
              </a:ext>
              <a:ext uri="{C183D7F6-B498-43B3-948B-1728B52AA6E4}">
                <adec:decorative xmlns:adec="http://schemas.microsoft.com/office/drawing/2017/decorative" val="1"/>
              </a:ext>
            </a:extLst>
          </p:cNvPr>
          <p:cNvSpPr>
            <a:spLocks noGrp="1"/>
          </p:cNvSpPr>
          <p:nvPr>
            <p:ph type="sldNum" sz="quarter" idx="17"/>
          </p:nvPr>
        </p:nvSpPr>
        <p:spPr>
          <a:xfrm>
            <a:off x="8610600" y="6356350"/>
            <a:ext cx="2743200" cy="365125"/>
          </a:xfrm>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532151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80743D9-A6A8-DB12-6B2E-147C03806805}"/>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9" name="Subheading">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8" y="1913536"/>
            <a:ext cx="10370191"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688805"/>
            <a:ext cx="10370190" cy="96314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1" name="Subheading 2">
            <a:extLst>
              <a:ext uri="{FF2B5EF4-FFF2-40B4-BE49-F238E27FC236}">
                <a16:creationId xmlns:a16="http://schemas.microsoft.com/office/drawing/2014/main" id="{2D3D518F-FED5-7E25-12CE-FCBE9431A5C8}"/>
              </a:ext>
            </a:extLst>
          </p:cNvPr>
          <p:cNvSpPr>
            <a:spLocks noGrp="1"/>
          </p:cNvSpPr>
          <p:nvPr>
            <p:ph type="body" sz="quarter" idx="21" hasCustomPrompt="1"/>
          </p:nvPr>
        </p:nvSpPr>
        <p:spPr>
          <a:xfrm>
            <a:off x="654228" y="3957788"/>
            <a:ext cx="10370191"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2" name="Text Placeholder 2">
            <a:extLst>
              <a:ext uri="{FF2B5EF4-FFF2-40B4-BE49-F238E27FC236}">
                <a16:creationId xmlns:a16="http://schemas.microsoft.com/office/drawing/2014/main" id="{A9071244-DD24-D83B-A3BC-DF4D85E0872F}"/>
              </a:ext>
            </a:extLst>
          </p:cNvPr>
          <p:cNvSpPr>
            <a:spLocks noGrp="1"/>
          </p:cNvSpPr>
          <p:nvPr>
            <p:ph type="body" sz="quarter" idx="22"/>
          </p:nvPr>
        </p:nvSpPr>
        <p:spPr>
          <a:xfrm>
            <a:off x="652463" y="4733057"/>
            <a:ext cx="10370190" cy="96314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epartment/Unit name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097004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6" name="Rectangle 15">
            <a:extLst>
              <a:ext uri="{FF2B5EF4-FFF2-40B4-BE49-F238E27FC236}">
                <a16:creationId xmlns:a16="http://schemas.microsoft.com/office/drawing/2014/main" id="{3E00EE44-1662-6C19-8EEE-4473520AD683}"/>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EC33744-A502-FBC7-B1D3-73DF0C333BF9}"/>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9" name="Subhead Placeholder - left">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8" y="2009998"/>
            <a:ext cx="4876417"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785267"/>
            <a:ext cx="4876417" cy="2155443"/>
          </a:xfrm>
        </p:spPr>
        <p:txBody>
          <a:bodyPr>
            <a:normAutofit/>
          </a:bodyPr>
          <a:lstStyle>
            <a:lvl1pPr marL="0" indent="0">
              <a:buNone/>
              <a:defRPr sz="2000">
                <a:solidFill>
                  <a:schemeClr val="tx2"/>
                </a:solidFill>
              </a:defRPr>
            </a:lvl1pPr>
          </a:lstStyle>
          <a:p>
            <a:pPr lvl="0"/>
            <a:r>
              <a:rPr lang="en-US"/>
              <a:t>Click to edit Master text styles</a:t>
            </a:r>
          </a:p>
        </p:txBody>
      </p:sp>
      <p:sp>
        <p:nvSpPr>
          <p:cNvPr id="14" name="Subhead Placeholder - right">
            <a:extLst>
              <a:ext uri="{FF2B5EF4-FFF2-40B4-BE49-F238E27FC236}">
                <a16:creationId xmlns:a16="http://schemas.microsoft.com/office/drawing/2014/main" id="{224424D1-87E7-3962-19AA-DA17D1EABB17}"/>
              </a:ext>
            </a:extLst>
          </p:cNvPr>
          <p:cNvSpPr>
            <a:spLocks noGrp="1"/>
          </p:cNvSpPr>
          <p:nvPr>
            <p:ph type="body" sz="quarter" idx="21" hasCustomPrompt="1"/>
          </p:nvPr>
        </p:nvSpPr>
        <p:spPr>
          <a:xfrm>
            <a:off x="6148002" y="2009998"/>
            <a:ext cx="4876417"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15" name="Text Placeholder 2">
            <a:extLst>
              <a:ext uri="{FF2B5EF4-FFF2-40B4-BE49-F238E27FC236}">
                <a16:creationId xmlns:a16="http://schemas.microsoft.com/office/drawing/2014/main" id="{7629D8EC-3306-885D-34FB-A593175BDA59}"/>
              </a:ext>
            </a:extLst>
          </p:cNvPr>
          <p:cNvSpPr>
            <a:spLocks noGrp="1"/>
          </p:cNvSpPr>
          <p:nvPr>
            <p:ph type="body" sz="quarter" idx="22"/>
          </p:nvPr>
        </p:nvSpPr>
        <p:spPr>
          <a:xfrm>
            <a:off x="6146237" y="2785267"/>
            <a:ext cx="4876417" cy="2155443"/>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partment/Unit name Placeholder">
            <a:extLst>
              <a:ext uri="{FF2B5EF4-FFF2-40B4-BE49-F238E27FC236}">
                <a16:creationId xmlns:a16="http://schemas.microsoft.com/office/drawing/2014/main" id="{78C65027-A687-41F0-E627-6C9CA6C8D0A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468254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23" name="Title accent">
            <a:extLst>
              <a:ext uri="{FF2B5EF4-FFF2-40B4-BE49-F238E27FC236}">
                <a16:creationId xmlns:a16="http://schemas.microsoft.com/office/drawing/2014/main" id="{115AD324-E2E1-9400-B6BC-49D0C5F6A834}"/>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D71844C4-2CEE-3AA9-FDAD-BAF322CBDD11}"/>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25" name="Subhead Placeholder - left">
            <a:extLst>
              <a:ext uri="{FF2B5EF4-FFF2-40B4-BE49-F238E27FC236}">
                <a16:creationId xmlns:a16="http://schemas.microsoft.com/office/drawing/2014/main" id="{4F21266B-E068-C84F-857F-629382CE951B}"/>
              </a:ext>
            </a:extLst>
          </p:cNvPr>
          <p:cNvSpPr>
            <a:spLocks noGrp="1"/>
          </p:cNvSpPr>
          <p:nvPr>
            <p:ph type="body" sz="quarter" idx="19" hasCustomPrompt="1"/>
          </p:nvPr>
        </p:nvSpPr>
        <p:spPr>
          <a:xfrm>
            <a:off x="654228" y="2009998"/>
            <a:ext cx="4876417"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8" name="Text Placeholder - left">
            <a:extLst>
              <a:ext uri="{FF2B5EF4-FFF2-40B4-BE49-F238E27FC236}">
                <a16:creationId xmlns:a16="http://schemas.microsoft.com/office/drawing/2014/main" id="{E378921D-C904-2C44-DAD3-10FCD0515514}"/>
              </a:ext>
            </a:extLst>
          </p:cNvPr>
          <p:cNvSpPr>
            <a:spLocks noGrp="1"/>
          </p:cNvSpPr>
          <p:nvPr>
            <p:ph type="body" sz="quarter" idx="22" hasCustomPrompt="1"/>
          </p:nvPr>
        </p:nvSpPr>
        <p:spPr>
          <a:xfrm>
            <a:off x="651081" y="2774950"/>
            <a:ext cx="4876417" cy="2668588"/>
          </a:xfrm>
        </p:spPr>
        <p:txBody>
          <a:bodyPr/>
          <a:lstStyle>
            <a:lvl1pPr marL="228600" indent="-228600">
              <a:buFont typeface="Courier New" panose="02070309020205020404" pitchFamily="49" charset="0"/>
              <a:buChar char="o"/>
              <a:defRPr sz="20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6" name="Subhead Placeholder - right">
            <a:extLst>
              <a:ext uri="{FF2B5EF4-FFF2-40B4-BE49-F238E27FC236}">
                <a16:creationId xmlns:a16="http://schemas.microsoft.com/office/drawing/2014/main" id="{EEBD4F98-6476-56B5-5D6A-FDFCA46BF70F}"/>
              </a:ext>
            </a:extLst>
          </p:cNvPr>
          <p:cNvSpPr>
            <a:spLocks noGrp="1"/>
          </p:cNvSpPr>
          <p:nvPr>
            <p:ph type="body" sz="quarter" idx="21" hasCustomPrompt="1"/>
          </p:nvPr>
        </p:nvSpPr>
        <p:spPr>
          <a:xfrm>
            <a:off x="6148002" y="2009998"/>
            <a:ext cx="4876417"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30" name="Text Placeholder -right">
            <a:extLst>
              <a:ext uri="{FF2B5EF4-FFF2-40B4-BE49-F238E27FC236}">
                <a16:creationId xmlns:a16="http://schemas.microsoft.com/office/drawing/2014/main" id="{E6AC3C03-BBBE-A121-29AB-D885327950BE}"/>
              </a:ext>
            </a:extLst>
          </p:cNvPr>
          <p:cNvSpPr>
            <a:spLocks noGrp="1"/>
          </p:cNvSpPr>
          <p:nvPr>
            <p:ph type="body" sz="quarter" idx="23" hasCustomPrompt="1"/>
          </p:nvPr>
        </p:nvSpPr>
        <p:spPr>
          <a:xfrm>
            <a:off x="6144855" y="2774797"/>
            <a:ext cx="4876417" cy="2668588"/>
          </a:xfrm>
        </p:spPr>
        <p:txBody>
          <a:bodyPr/>
          <a:lstStyle>
            <a:lvl1pPr marL="228600" indent="-228600">
              <a:buFont typeface="Courier New" panose="02070309020205020404" pitchFamily="49" charset="0"/>
              <a:buChar char="o"/>
              <a:defRPr sz="20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epartment/unit name Placeholder">
            <a:extLst>
              <a:ext uri="{FF2B5EF4-FFF2-40B4-BE49-F238E27FC236}">
                <a16:creationId xmlns:a16="http://schemas.microsoft.com/office/drawing/2014/main" id="{447F6171-D545-B452-563D-EFB2AE96669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163101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9" name="Title 1">
            <a:extLst>
              <a:ext uri="{FF2B5EF4-FFF2-40B4-BE49-F238E27FC236}">
                <a16:creationId xmlns:a16="http://schemas.microsoft.com/office/drawing/2014/main" id="{36BB2015-0086-DF08-8A25-8A0616C8BB6A}"/>
              </a:ext>
            </a:extLst>
          </p:cNvPr>
          <p:cNvSpPr>
            <a:spLocks noGrp="1"/>
          </p:cNvSpPr>
          <p:nvPr>
            <p:ph type="title" hasCustomPrompt="1"/>
          </p:nvPr>
        </p:nvSpPr>
        <p:spPr>
          <a:xfrm>
            <a:off x="3051180" y="1291652"/>
            <a:ext cx="6189488" cy="807792"/>
          </a:xfrm>
        </p:spPr>
        <p:txBody>
          <a:bodyPr>
            <a:normAutofit/>
          </a:bodyPr>
          <a:lstStyle>
            <a:lvl1pPr algn="ct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Large Quote</a:t>
            </a:r>
          </a:p>
        </p:txBody>
      </p:sp>
      <p:sp>
        <p:nvSpPr>
          <p:cNvPr id="12" name="Quote 1 - left">
            <a:extLst>
              <a:ext uri="{FF2B5EF4-FFF2-40B4-BE49-F238E27FC236}">
                <a16:creationId xmlns:a16="http://schemas.microsoft.com/office/drawing/2014/main" id="{74CB6488-2929-62E5-C898-745037E06918}"/>
              </a:ext>
              <a:ext uri="{C183D7F6-B498-43B3-948B-1728B52AA6E4}">
                <adec:decorative xmlns:adec="http://schemas.microsoft.com/office/drawing/2017/decorative" val="1"/>
              </a:ext>
            </a:extLst>
          </p:cNvPr>
          <p:cNvSpPr txBox="1">
            <a:spLocks/>
          </p:cNvSpPr>
          <p:nvPr userDrawn="1"/>
        </p:nvSpPr>
        <p:spPr>
          <a:xfrm>
            <a:off x="2273810" y="1167968"/>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chemeClr val="bg2"/>
                </a:solidFill>
              </a:rPr>
              <a:t>“</a:t>
            </a:r>
          </a:p>
        </p:txBody>
      </p:sp>
      <p:sp>
        <p:nvSpPr>
          <p:cNvPr id="13" name="Quote 1 - right">
            <a:extLst>
              <a:ext uri="{FF2B5EF4-FFF2-40B4-BE49-F238E27FC236}">
                <a16:creationId xmlns:a16="http://schemas.microsoft.com/office/drawing/2014/main" id="{91174DFB-BAA6-41D2-C5C4-B438E22AB41F}"/>
              </a:ext>
              <a:ext uri="{C183D7F6-B498-43B3-948B-1728B52AA6E4}">
                <adec:decorative xmlns:adec="http://schemas.microsoft.com/office/drawing/2017/decorative" val="1"/>
              </a:ext>
            </a:extLst>
          </p:cNvPr>
          <p:cNvSpPr txBox="1">
            <a:spLocks/>
          </p:cNvSpPr>
          <p:nvPr userDrawn="1"/>
        </p:nvSpPr>
        <p:spPr>
          <a:xfrm>
            <a:off x="9140821" y="1185256"/>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chemeClr val="bg2"/>
                </a:solidFill>
              </a:rPr>
              <a:t>”</a:t>
            </a:r>
          </a:p>
        </p:txBody>
      </p:sp>
      <p:sp>
        <p:nvSpPr>
          <p:cNvPr id="17" name="Attribution 1 Placeholder">
            <a:extLst>
              <a:ext uri="{FF2B5EF4-FFF2-40B4-BE49-F238E27FC236}">
                <a16:creationId xmlns:a16="http://schemas.microsoft.com/office/drawing/2014/main" id="{2A25C115-1C3A-AC3A-C7C7-570E85027B6A}"/>
              </a:ext>
            </a:extLst>
          </p:cNvPr>
          <p:cNvSpPr>
            <a:spLocks noGrp="1"/>
          </p:cNvSpPr>
          <p:nvPr>
            <p:ph type="body" sz="quarter" idx="20" hasCustomPrompt="1"/>
          </p:nvPr>
        </p:nvSpPr>
        <p:spPr>
          <a:xfrm>
            <a:off x="7127193" y="2116732"/>
            <a:ext cx="2113474" cy="429881"/>
          </a:xfrm>
        </p:spPr>
        <p:txBody>
          <a:bodyPr anchor="ctr">
            <a:normAutofit/>
          </a:bodyPr>
          <a:lstStyle>
            <a:lvl1pPr marL="0" indent="0" algn="r">
              <a:lnSpc>
                <a:spcPct val="70000"/>
              </a:lnSpc>
              <a:buNone/>
              <a:defRPr sz="2000">
                <a:solidFill>
                  <a:schemeClr val="tx2"/>
                </a:solidFill>
                <a:latin typeface="+mn-lt"/>
              </a:defRPr>
            </a:lvl1pPr>
          </a:lstStyle>
          <a:p>
            <a:pPr lvl="0"/>
            <a:r>
              <a:rPr lang="en-US"/>
              <a:t>Author</a:t>
            </a:r>
          </a:p>
        </p:txBody>
      </p:sp>
      <p:sp>
        <p:nvSpPr>
          <p:cNvPr id="7" name="Quote 2 - left">
            <a:extLst>
              <a:ext uri="{FF2B5EF4-FFF2-40B4-BE49-F238E27FC236}">
                <a16:creationId xmlns:a16="http://schemas.microsoft.com/office/drawing/2014/main" id="{007BC3EA-75CF-5946-828D-DEFAF530E77B}"/>
              </a:ext>
              <a:ext uri="{C183D7F6-B498-43B3-948B-1728B52AA6E4}">
                <adec:decorative xmlns:adec="http://schemas.microsoft.com/office/drawing/2017/decorative" val="1"/>
              </a:ext>
            </a:extLst>
          </p:cNvPr>
          <p:cNvSpPr txBox="1">
            <a:spLocks/>
          </p:cNvSpPr>
          <p:nvPr userDrawn="1"/>
        </p:nvSpPr>
        <p:spPr>
          <a:xfrm>
            <a:off x="2273810" y="3477024"/>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rgbClr val="FF5F05"/>
                </a:solidFill>
              </a:rPr>
              <a:t>“</a:t>
            </a:r>
          </a:p>
        </p:txBody>
      </p:sp>
      <p:sp>
        <p:nvSpPr>
          <p:cNvPr id="8" name="Quote 2 - right">
            <a:extLst>
              <a:ext uri="{FF2B5EF4-FFF2-40B4-BE49-F238E27FC236}">
                <a16:creationId xmlns:a16="http://schemas.microsoft.com/office/drawing/2014/main" id="{254A594E-C5D9-FA57-D21E-EAA6B5CB7529}"/>
              </a:ext>
              <a:ext uri="{C183D7F6-B498-43B3-948B-1728B52AA6E4}">
                <adec:decorative xmlns:adec="http://schemas.microsoft.com/office/drawing/2017/decorative" val="1"/>
              </a:ext>
            </a:extLst>
          </p:cNvPr>
          <p:cNvSpPr txBox="1">
            <a:spLocks/>
          </p:cNvSpPr>
          <p:nvPr userDrawn="1"/>
        </p:nvSpPr>
        <p:spPr>
          <a:xfrm>
            <a:off x="9088267" y="3494312"/>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chemeClr val="bg2"/>
                </a:solidFill>
              </a:rPr>
              <a:t>”</a:t>
            </a:r>
          </a:p>
        </p:txBody>
      </p:sp>
      <p:sp>
        <p:nvSpPr>
          <p:cNvPr id="19" name="Long Quote Placeholder">
            <a:extLst>
              <a:ext uri="{FF2B5EF4-FFF2-40B4-BE49-F238E27FC236}">
                <a16:creationId xmlns:a16="http://schemas.microsoft.com/office/drawing/2014/main" id="{C6593C7D-5AD9-BC2C-0070-B0B3F7287B22}"/>
              </a:ext>
            </a:extLst>
          </p:cNvPr>
          <p:cNvSpPr>
            <a:spLocks noGrp="1"/>
          </p:cNvSpPr>
          <p:nvPr>
            <p:ph type="body" sz="quarter" idx="21" hasCustomPrompt="1"/>
          </p:nvPr>
        </p:nvSpPr>
        <p:spPr>
          <a:xfrm>
            <a:off x="3060741" y="3501730"/>
            <a:ext cx="6179926" cy="1507248"/>
          </a:xfrm>
        </p:spPr>
        <p:txBody>
          <a:bodyPr anchor="ctr">
            <a:normAutofit/>
          </a:bodyPr>
          <a:lstStyle>
            <a:lvl1pPr marL="0" indent="0" algn="ctr">
              <a:lnSpc>
                <a:spcPct val="70000"/>
              </a:lnSpc>
              <a:buNone/>
              <a:defRPr sz="2400">
                <a:solidFill>
                  <a:schemeClr val="tx2"/>
                </a:solidFill>
                <a:latin typeface="+mn-lt"/>
              </a:defRPr>
            </a:lvl1pPr>
          </a:lstStyle>
          <a:p>
            <a:pPr lvl="0"/>
            <a:r>
              <a:rPr lang="en-US"/>
              <a:t>Long Paragraph Quote </a:t>
            </a:r>
          </a:p>
        </p:txBody>
      </p:sp>
      <p:sp>
        <p:nvSpPr>
          <p:cNvPr id="20" name="Long Quote attribution Placeholder">
            <a:extLst>
              <a:ext uri="{FF2B5EF4-FFF2-40B4-BE49-F238E27FC236}">
                <a16:creationId xmlns:a16="http://schemas.microsoft.com/office/drawing/2014/main" id="{D808D8CD-BCBE-F257-3C6F-64185F7ABD10}"/>
              </a:ext>
            </a:extLst>
          </p:cNvPr>
          <p:cNvSpPr>
            <a:spLocks noGrp="1"/>
          </p:cNvSpPr>
          <p:nvPr>
            <p:ph type="body" sz="quarter" idx="22" hasCustomPrompt="1"/>
          </p:nvPr>
        </p:nvSpPr>
        <p:spPr>
          <a:xfrm>
            <a:off x="7127193" y="5065124"/>
            <a:ext cx="2113474" cy="429881"/>
          </a:xfrm>
        </p:spPr>
        <p:txBody>
          <a:bodyPr anchor="ctr">
            <a:normAutofit/>
          </a:bodyPr>
          <a:lstStyle>
            <a:lvl1pPr marL="0" indent="0" algn="r">
              <a:lnSpc>
                <a:spcPct val="70000"/>
              </a:lnSpc>
              <a:buNone/>
              <a:defRPr sz="2000">
                <a:solidFill>
                  <a:schemeClr val="tx2"/>
                </a:solidFill>
                <a:latin typeface="+mn-lt"/>
              </a:defRPr>
            </a:lvl1pPr>
          </a:lstStyle>
          <a:p>
            <a:pPr lvl="0"/>
            <a:r>
              <a:rPr lang="en-US"/>
              <a:t>Author</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475528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1">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Title 1">
            <a:extLst>
              <a:ext uri="{FF2B5EF4-FFF2-40B4-BE49-F238E27FC236}">
                <a16:creationId xmlns:a16="http://schemas.microsoft.com/office/drawing/2014/main" id="{806AA2EA-F5CC-A830-112E-D187F5411352}"/>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554038" y="1786687"/>
            <a:ext cx="4738687" cy="2042930"/>
          </a:xfrm>
          <a:solidFill>
            <a:schemeClr val="bg1">
              <a:lumMod val="75000"/>
            </a:schemeClr>
          </a:solidFill>
        </p:spPr>
        <p:txBody>
          <a:bodyPr/>
          <a:lstStyle>
            <a:lvl1pPr marL="0" indent="0">
              <a:buNone/>
              <a:defRPr/>
            </a:lvl1pPr>
          </a:lstStyle>
          <a:p>
            <a:r>
              <a:rPr lang="en-US"/>
              <a:t>Click icon to add picture</a:t>
            </a:r>
          </a:p>
        </p:txBody>
      </p:sp>
      <p:sp>
        <p:nvSpPr>
          <p:cNvPr id="18" name="Subhead 1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1786687"/>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2561957"/>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552273" y="3924115"/>
            <a:ext cx="4738687" cy="2042930"/>
          </a:xfrm>
          <a:solidFill>
            <a:schemeClr val="bg1">
              <a:lumMod val="75000"/>
            </a:schemeClr>
          </a:solidFill>
        </p:spPr>
        <p:txBody>
          <a:bodyPr/>
          <a:lstStyle>
            <a:lvl1pPr marL="0" indent="0">
              <a:buNone/>
              <a:defRPr/>
            </a:lvl1pPr>
          </a:lstStyle>
          <a:p>
            <a:r>
              <a:rPr lang="en-US"/>
              <a:t>Click icon to add picture</a:t>
            </a:r>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5475583" y="3924115"/>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5473818" y="4699385"/>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1976938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Slide 2">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67464D1-DDEC-4858-9CA3-246D12B35BF7}"/>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8" name="Subhead Placeholder 1">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4228" y="1786687"/>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652463" y="2561957"/>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6282203" y="1786687"/>
            <a:ext cx="4738687" cy="2042930"/>
          </a:xfrm>
          <a:solidFill>
            <a:schemeClr val="bg1">
              <a:lumMod val="75000"/>
            </a:schemeClr>
          </a:solidFill>
        </p:spPr>
        <p:txBody>
          <a:bodyPr/>
          <a:lstStyle>
            <a:lvl1pPr marL="0" indent="0">
              <a:buNone/>
              <a:defRPr/>
            </a:lvl1pPr>
          </a:lstStyle>
          <a:p>
            <a:r>
              <a:rPr lang="en-US"/>
              <a:t>Click icon to add picture</a:t>
            </a:r>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652463" y="3924115"/>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650698" y="4699385"/>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6280438" y="3924115"/>
            <a:ext cx="4738687" cy="2042930"/>
          </a:xfrm>
          <a:solidFill>
            <a:schemeClr val="bg1">
              <a:lumMod val="75000"/>
            </a:schemeClr>
          </a:solidFill>
        </p:spPr>
        <p:txBody>
          <a:bodyPr/>
          <a:lstStyle>
            <a:lvl1pPr marL="0" indent="0">
              <a:buNone/>
              <a:defRPr/>
            </a:lvl1pPr>
          </a:lstStyle>
          <a:p>
            <a:r>
              <a:rPr lang="en-US"/>
              <a:t>Click icon to add picture</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264825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Slide 3">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44B32AFE-F932-DF9D-9DB7-1815DFD5D419}"/>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554038" y="1786687"/>
            <a:ext cx="4738687" cy="4322200"/>
          </a:xfrm>
          <a:solidFill>
            <a:schemeClr val="bg1">
              <a:lumMod val="75000"/>
            </a:schemeClr>
          </a:solidFill>
        </p:spPr>
        <p:txBody>
          <a:bodyPr/>
          <a:lstStyle>
            <a:lvl1pPr marL="0" indent="0">
              <a:buNone/>
              <a:defRPr/>
            </a:lvl1pPr>
          </a:lstStyle>
          <a:p>
            <a:r>
              <a:rPr lang="en-US"/>
              <a:t>Click icon to add picture</a:t>
            </a:r>
          </a:p>
        </p:txBody>
      </p:sp>
      <p:sp>
        <p:nvSpPr>
          <p:cNvPr id="18" name="Subhead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2717104"/>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3492374"/>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904003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Slide 4">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5372" y="277803"/>
            <a:ext cx="516232" cy="745668"/>
          </a:xfrm>
          <a:prstGeom prst="rect">
            <a:avLst/>
          </a:prstGeom>
        </p:spPr>
      </p:pic>
      <p:sp>
        <p:nvSpPr>
          <p:cNvPr id="3" name="Title 1">
            <a:extLst>
              <a:ext uri="{FF2B5EF4-FFF2-40B4-BE49-F238E27FC236}">
                <a16:creationId xmlns:a16="http://schemas.microsoft.com/office/drawing/2014/main" id="{3C361099-F3C8-7FD3-FE7D-BDB8984BD628}"/>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8" name="Subheading">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2463" y="2717104"/>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0698" y="3492374"/>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283968" y="1786687"/>
            <a:ext cx="4738687" cy="4322200"/>
          </a:xfrm>
          <a:solidFill>
            <a:schemeClr val="bg1">
              <a:lumMod val="75000"/>
            </a:schemeClr>
          </a:solidFill>
        </p:spPr>
        <p:txBody>
          <a:bodyPr/>
          <a:lstStyle>
            <a:lvl1pPr marL="0" indent="0">
              <a:buNone/>
              <a:defRPr/>
            </a:lvl1pPr>
          </a:lstStyle>
          <a:p>
            <a:r>
              <a:rPr lang="en-US"/>
              <a:t>Click icon to add picture</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571520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5">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6" name="Title Placeholder">
            <a:extLst>
              <a:ext uri="{FF2B5EF4-FFF2-40B4-BE49-F238E27FC236}">
                <a16:creationId xmlns:a16="http://schemas.microsoft.com/office/drawing/2014/main" id="{119C3D1A-1767-F64F-CCEA-FD8AB56C8873}"/>
              </a:ext>
            </a:extLst>
          </p:cNvPr>
          <p:cNvSpPr>
            <a:spLocks noGrp="1"/>
          </p:cNvSpPr>
          <p:nvPr>
            <p:ph type="body" sz="quarter" idx="18" hasCustomPrompt="1"/>
          </p:nvPr>
        </p:nvSpPr>
        <p:spPr>
          <a:xfrm>
            <a:off x="654228" y="277803"/>
            <a:ext cx="10370191" cy="1189820"/>
          </a:xfrm>
        </p:spPr>
        <p:txBody>
          <a:bodyPr anchor="ctr" anchorCtr="0">
            <a:normAutofit/>
          </a:bodyPr>
          <a:lstStyle>
            <a:lvl1pPr marL="0" marR="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sz="3200">
                <a:solidFill>
                  <a:schemeClr val="tx2"/>
                </a:solidFill>
                <a:latin typeface="+mj-lt"/>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50698" y="1578560"/>
            <a:ext cx="10371957" cy="3875254"/>
          </a:xfrm>
          <a:solidFill>
            <a:schemeClr val="bg1">
              <a:lumMod val="75000"/>
            </a:schemeClr>
          </a:solidFill>
        </p:spPr>
        <p:txBody>
          <a:bodyPr/>
          <a:lstStyle>
            <a:lvl1pPr marL="0" indent="0">
              <a:buNone/>
              <a:defRPr/>
            </a:lvl1pPr>
          </a:lstStyle>
          <a:p>
            <a:r>
              <a:rPr lang="en-US"/>
              <a:t>Click icon to add picture</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4689" y="5590340"/>
            <a:ext cx="10367965" cy="612588"/>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4053895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Slide 6">
    <p:spTree>
      <p:nvGrpSpPr>
        <p:cNvPr id="1" name=""/>
        <p:cNvGrpSpPr/>
        <p:nvPr/>
      </p:nvGrpSpPr>
      <p:grpSpPr>
        <a:xfrm>
          <a:off x="0" y="0"/>
          <a:ext cx="0" cy="0"/>
          <a:chOff x="0" y="0"/>
          <a:chExt cx="0" cy="0"/>
        </a:xfrm>
      </p:grpSpPr>
      <p:sp>
        <p:nvSpPr>
          <p:cNvPr id="13" name="Title Placeholder">
            <a:extLst>
              <a:ext uri="{FF2B5EF4-FFF2-40B4-BE49-F238E27FC236}">
                <a16:creationId xmlns:a16="http://schemas.microsoft.com/office/drawing/2014/main" id="{7D02BED8-DBC4-0252-E92E-234AE9D9F15C}"/>
              </a:ext>
            </a:extLst>
          </p:cNvPr>
          <p:cNvSpPr>
            <a:spLocks noGrp="1"/>
          </p:cNvSpPr>
          <p:nvPr>
            <p:ph type="body" sz="quarter" idx="19" hasCustomPrompt="1"/>
          </p:nvPr>
        </p:nvSpPr>
        <p:spPr>
          <a:xfrm>
            <a:off x="7679104" y="2391179"/>
            <a:ext cx="4187900" cy="764799"/>
          </a:xfrm>
        </p:spPr>
        <p:txBody>
          <a:bodyPr anchor="ctr">
            <a:normAutofit/>
          </a:bodyPr>
          <a:lstStyle>
            <a:lvl1pPr marL="0" indent="0" algn="l">
              <a:lnSpc>
                <a:spcPct val="70000"/>
              </a:lnSpc>
              <a:buNone/>
              <a:defRPr sz="3000">
                <a:solidFill>
                  <a:schemeClr val="bg1"/>
                </a:solidFill>
                <a:latin typeface="+mj-lt"/>
              </a:defRPr>
            </a:lvl1pPr>
          </a:lstStyle>
          <a:p>
            <a:pPr lvl="0"/>
            <a:r>
              <a:rPr lang="en-US"/>
              <a:t>Subhead</a:t>
            </a:r>
          </a:p>
        </p:txBody>
      </p:sp>
      <p:sp>
        <p:nvSpPr>
          <p:cNvPr id="15" name="Text Placeholder">
            <a:extLst>
              <a:ext uri="{FF2B5EF4-FFF2-40B4-BE49-F238E27FC236}">
                <a16:creationId xmlns:a16="http://schemas.microsoft.com/office/drawing/2014/main" id="{A877C0E9-AC67-8A06-EFD9-3C48FB86AFCA}"/>
              </a:ext>
            </a:extLst>
          </p:cNvPr>
          <p:cNvSpPr>
            <a:spLocks noGrp="1"/>
          </p:cNvSpPr>
          <p:nvPr>
            <p:ph type="body" sz="quarter" idx="20"/>
          </p:nvPr>
        </p:nvSpPr>
        <p:spPr>
          <a:xfrm>
            <a:off x="7677339" y="3166449"/>
            <a:ext cx="4187900" cy="1267660"/>
          </a:xfrm>
        </p:spPr>
        <p:txBody>
          <a:bodyPr>
            <a:normAutofit/>
          </a:bodyPr>
          <a:lstStyle>
            <a:lvl1pPr marL="0" indent="0">
              <a:buNone/>
              <a:defRPr sz="2000">
                <a:solidFill>
                  <a:schemeClr val="bg1"/>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1778697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Slide 7">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1" name="Title Placeholder">
            <a:extLst>
              <a:ext uri="{FF2B5EF4-FFF2-40B4-BE49-F238E27FC236}">
                <a16:creationId xmlns:a16="http://schemas.microsoft.com/office/drawing/2014/main" id="{9FFDD080-4638-6791-3E4F-BA329002E2BF}"/>
              </a:ext>
            </a:extLst>
          </p:cNvPr>
          <p:cNvSpPr>
            <a:spLocks noGrp="1"/>
          </p:cNvSpPr>
          <p:nvPr>
            <p:ph type="body" sz="quarter" idx="19" hasCustomPrompt="1"/>
          </p:nvPr>
        </p:nvSpPr>
        <p:spPr>
          <a:xfrm>
            <a:off x="2248247" y="4070491"/>
            <a:ext cx="7695506" cy="764799"/>
          </a:xfrm>
        </p:spPr>
        <p:txBody>
          <a:bodyPr anchor="ctr">
            <a:normAutofit/>
          </a:bodyPr>
          <a:lstStyle>
            <a:lvl1pPr marL="0" indent="0" algn="ctr">
              <a:lnSpc>
                <a:spcPct val="70000"/>
              </a:lnSpc>
              <a:buNone/>
              <a:defRPr sz="3000">
                <a:solidFill>
                  <a:schemeClr val="bg1"/>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2248247" y="4980067"/>
            <a:ext cx="7695506" cy="612588"/>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0764255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 Slide 1">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9"/>
          </a:xfrm>
          <a:prstGeom prst="rect">
            <a:avLst/>
          </a:prstGeom>
        </p:spPr>
      </p:pic>
      <p:sp>
        <p:nvSpPr>
          <p:cNvPr id="3" name="Title 1">
            <a:extLst>
              <a:ext uri="{FF2B5EF4-FFF2-40B4-BE49-F238E27FC236}">
                <a16:creationId xmlns:a16="http://schemas.microsoft.com/office/drawing/2014/main" id="{BDA352AF-0D0B-CA5B-F6AB-E8E707C2BCFB}"/>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5" name="Chart Placeholder">
            <a:extLst>
              <a:ext uri="{FF2B5EF4-FFF2-40B4-BE49-F238E27FC236}">
                <a16:creationId xmlns:a16="http://schemas.microsoft.com/office/drawing/2014/main" id="{A294C2DE-00CB-57AC-36E4-F1BD262706DC}"/>
              </a:ext>
            </a:extLst>
          </p:cNvPr>
          <p:cNvSpPr>
            <a:spLocks noGrp="1"/>
          </p:cNvSpPr>
          <p:nvPr>
            <p:ph type="chart" sz="quarter" idx="19"/>
          </p:nvPr>
        </p:nvSpPr>
        <p:spPr>
          <a:xfrm>
            <a:off x="1430338" y="1747838"/>
            <a:ext cx="9134475" cy="4360862"/>
          </a:xfrm>
        </p:spPr>
        <p:txBody>
          <a:bodyPr/>
          <a:lstStyle/>
          <a:p>
            <a:r>
              <a:rPr lang="en-US"/>
              <a:t>Click icon to add chart</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epartment/unit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3">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962947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9AC6FB-79B2-8934-E612-EC987EF3231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
        <p:nvSpPr>
          <p:cNvPr id="17" name="Title Placeholder">
            <a:extLst>
              <a:ext uri="{FF2B5EF4-FFF2-40B4-BE49-F238E27FC236}">
                <a16:creationId xmlns:a16="http://schemas.microsoft.com/office/drawing/2014/main" id="{9E07F9AC-4E7E-9623-9170-90BDADFA2A74}"/>
              </a:ext>
            </a:extLst>
          </p:cNvPr>
          <p:cNvSpPr>
            <a:spLocks noGrp="1"/>
          </p:cNvSpPr>
          <p:nvPr>
            <p:ph type="title" hasCustomPrompt="1"/>
          </p:nvPr>
        </p:nvSpPr>
        <p:spPr>
          <a:xfrm>
            <a:off x="1610698" y="823864"/>
            <a:ext cx="8981220" cy="1107047"/>
          </a:xfrm>
        </p:spPr>
        <p:txBody>
          <a:bodyPr>
            <a:normAutofit/>
          </a:bodyPr>
          <a:lstStyle>
            <a:lvl1pPr algn="ctr">
              <a:defRPr sz="6000">
                <a:solidFill>
                  <a:schemeClr val="bg1"/>
                </a:solidFill>
              </a:defRPr>
            </a:lvl1pPr>
          </a:lstStyle>
          <a:p>
            <a:r>
              <a:rPr lang="en-US"/>
              <a:t>Thank You</a:t>
            </a:r>
          </a:p>
        </p:txBody>
      </p:sp>
      <p:sp>
        <p:nvSpPr>
          <p:cNvPr id="12" name="Title Underscore">
            <a:extLst>
              <a:ext uri="{FF2B5EF4-FFF2-40B4-BE49-F238E27FC236}">
                <a16:creationId xmlns:a16="http://schemas.microsoft.com/office/drawing/2014/main" id="{58F4D01E-94DA-4F0B-8E13-618D11B2DCE2}"/>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5" name="Block I">
            <a:extLst>
              <a:ext uri="{FF2B5EF4-FFF2-40B4-BE49-F238E27FC236}">
                <a16:creationId xmlns:a16="http://schemas.microsoft.com/office/drawing/2014/main" id="{2ECD6B36-AE20-6B2C-70DA-90541397C67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19" name="Text Placeholder 1">
            <a:extLst>
              <a:ext uri="{FF2B5EF4-FFF2-40B4-BE49-F238E27FC236}">
                <a16:creationId xmlns:a16="http://schemas.microsoft.com/office/drawing/2014/main" id="{645B5409-DDAC-5BBA-E785-37F723B5630A}"/>
              </a:ext>
            </a:extLst>
          </p:cNvPr>
          <p:cNvSpPr>
            <a:spLocks noGrp="1"/>
          </p:cNvSpPr>
          <p:nvPr>
            <p:ph type="body" sz="quarter" idx="19" hasCustomPrompt="1"/>
          </p:nvPr>
        </p:nvSpPr>
        <p:spPr>
          <a:xfrm>
            <a:off x="1610697" y="2328261"/>
            <a:ext cx="8981219" cy="2201477"/>
          </a:xfrm>
        </p:spPr>
        <p:txBody>
          <a:bodyPr anchor="ctr">
            <a:noAutofit/>
          </a:bodyPr>
          <a:lstStyle>
            <a:lvl1pPr marL="0" indent="0" algn="ctr">
              <a:lnSpc>
                <a:spcPct val="150000"/>
              </a:lnSpc>
              <a:buNone/>
              <a:defRPr sz="3200">
                <a:solidFill>
                  <a:schemeClr val="bg1"/>
                </a:solidFill>
                <a:latin typeface="+mj-lt"/>
              </a:defRPr>
            </a:lvl1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a:t>Questions/Contact/Information</a:t>
            </a:r>
          </a:p>
        </p:txBody>
      </p:sp>
      <p:sp>
        <p:nvSpPr>
          <p:cNvPr id="21" name="Text Placeholder 2">
            <a:extLst>
              <a:ext uri="{FF2B5EF4-FFF2-40B4-BE49-F238E27FC236}">
                <a16:creationId xmlns:a16="http://schemas.microsoft.com/office/drawing/2014/main" id="{2982A2E9-6729-F459-2EB4-38593EB1846E}"/>
              </a:ext>
            </a:extLst>
          </p:cNvPr>
          <p:cNvSpPr>
            <a:spLocks noGrp="1"/>
          </p:cNvSpPr>
          <p:nvPr>
            <p:ph type="body" sz="quarter" idx="20"/>
          </p:nvPr>
        </p:nvSpPr>
        <p:spPr>
          <a:xfrm>
            <a:off x="1610697" y="4952165"/>
            <a:ext cx="8981219" cy="796785"/>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EC420C19-0C40-EAE2-AA9D-5101B4FF164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6" name="Slide Number Placeholder">
            <a:extLst>
              <a:ext uri="{FF2B5EF4-FFF2-40B4-BE49-F238E27FC236}">
                <a16:creationId xmlns:a16="http://schemas.microsoft.com/office/drawing/2014/main" id="{1DAF599E-70A8-5E76-56CB-CA69217C103F}"/>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88764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FF63E5-FDDB-6B44-048F-EF43D6670A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7" name="Title Placeholder">
            <a:extLst>
              <a:ext uri="{FF2B5EF4-FFF2-40B4-BE49-F238E27FC236}">
                <a16:creationId xmlns:a16="http://schemas.microsoft.com/office/drawing/2014/main" id="{33DE6DDB-A415-6C63-7353-2B6BB41D589A}"/>
              </a:ext>
            </a:extLst>
          </p:cNvPr>
          <p:cNvSpPr>
            <a:spLocks noGrp="1"/>
          </p:cNvSpPr>
          <p:nvPr>
            <p:ph type="title" hasCustomPrompt="1"/>
          </p:nvPr>
        </p:nvSpPr>
        <p:spPr>
          <a:xfrm>
            <a:off x="1610698" y="823864"/>
            <a:ext cx="8981220" cy="1107047"/>
          </a:xfrm>
        </p:spPr>
        <p:txBody>
          <a:bodyPr>
            <a:normAutofit/>
          </a:bodyPr>
          <a:lstStyle>
            <a:lvl1pPr algn="ctr">
              <a:defRPr sz="6000">
                <a:solidFill>
                  <a:schemeClr val="bg1"/>
                </a:solidFill>
              </a:defRPr>
            </a:lvl1pPr>
          </a:lstStyle>
          <a:p>
            <a:r>
              <a:rPr lang="en-US"/>
              <a:t>Thank You</a:t>
            </a:r>
          </a:p>
        </p:txBody>
      </p:sp>
      <p:sp>
        <p:nvSpPr>
          <p:cNvPr id="10" name="Title Underscore">
            <a:extLst>
              <a:ext uri="{FF2B5EF4-FFF2-40B4-BE49-F238E27FC236}">
                <a16:creationId xmlns:a16="http://schemas.microsoft.com/office/drawing/2014/main" id="{EE499929-DC2D-46B3-A28E-229CC329ABAD}"/>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9" name="Block I">
            <a:extLst>
              <a:ext uri="{FF2B5EF4-FFF2-40B4-BE49-F238E27FC236}">
                <a16:creationId xmlns:a16="http://schemas.microsoft.com/office/drawing/2014/main" id="{E693DE19-AD82-43E4-870B-ABD71ED9EB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5" y="277804"/>
            <a:ext cx="528575" cy="764797"/>
          </a:xfrm>
          <a:prstGeom prst="rect">
            <a:avLst/>
          </a:prstGeom>
        </p:spPr>
      </p:pic>
      <p:sp>
        <p:nvSpPr>
          <p:cNvPr id="8" name="Text Placeholder 1">
            <a:extLst>
              <a:ext uri="{FF2B5EF4-FFF2-40B4-BE49-F238E27FC236}">
                <a16:creationId xmlns:a16="http://schemas.microsoft.com/office/drawing/2014/main" id="{20D3AEAA-8383-5B38-DD49-CF2D2E42B2FD}"/>
              </a:ext>
            </a:extLst>
          </p:cNvPr>
          <p:cNvSpPr>
            <a:spLocks noGrp="1"/>
          </p:cNvSpPr>
          <p:nvPr>
            <p:ph type="body" sz="quarter" idx="19" hasCustomPrompt="1"/>
          </p:nvPr>
        </p:nvSpPr>
        <p:spPr>
          <a:xfrm>
            <a:off x="1610697" y="2328261"/>
            <a:ext cx="8981219" cy="2201477"/>
          </a:xfrm>
        </p:spPr>
        <p:txBody>
          <a:bodyPr anchor="ctr">
            <a:noAutofit/>
          </a:bodyPr>
          <a:lstStyle>
            <a:lvl1pPr marL="0" indent="0" algn="ctr">
              <a:lnSpc>
                <a:spcPct val="150000"/>
              </a:lnSpc>
              <a:buNone/>
              <a:defRPr sz="3200">
                <a:solidFill>
                  <a:schemeClr val="bg1"/>
                </a:solidFill>
                <a:latin typeface="+mj-lt"/>
              </a:defRPr>
            </a:lvl1pPr>
          </a:lstStyle>
          <a:p>
            <a:pPr lvl="0"/>
            <a:r>
              <a:rPr lang="en-US"/>
              <a:t>Questions/Contact/Information</a:t>
            </a:r>
          </a:p>
        </p:txBody>
      </p:sp>
      <p:sp>
        <p:nvSpPr>
          <p:cNvPr id="11" name="Text Placeholder 2">
            <a:extLst>
              <a:ext uri="{FF2B5EF4-FFF2-40B4-BE49-F238E27FC236}">
                <a16:creationId xmlns:a16="http://schemas.microsoft.com/office/drawing/2014/main" id="{F650F580-D423-6DBC-88B2-B37D4EB87AFE}"/>
              </a:ext>
            </a:extLst>
          </p:cNvPr>
          <p:cNvSpPr>
            <a:spLocks noGrp="1"/>
          </p:cNvSpPr>
          <p:nvPr>
            <p:ph type="body" sz="quarter" idx="20"/>
          </p:nvPr>
        </p:nvSpPr>
        <p:spPr>
          <a:xfrm>
            <a:off x="1610697" y="4952165"/>
            <a:ext cx="8981219" cy="796785"/>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6" name="Department/Unit name Placeholder">
            <a:extLst>
              <a:ext uri="{FF2B5EF4-FFF2-40B4-BE49-F238E27FC236}">
                <a16:creationId xmlns:a16="http://schemas.microsoft.com/office/drawing/2014/main" id="{D09D9943-0FAE-E4DE-E4FE-0B3F8F5513E0}"/>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BC285FAE-FC3C-B139-BFE4-13B46455285B}"/>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864320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Art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F629A3-552F-E006-13D5-0CE1F4DDF8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Tree>
    <p:extLst>
      <p:ext uri="{BB962C8B-B14F-4D97-AF65-F5344CB8AC3E}">
        <p14:creationId xmlns:p14="http://schemas.microsoft.com/office/powerpoint/2010/main" val="20360489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Art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460F61-2344-C760-857E-55ED7348C7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Tree>
    <p:extLst>
      <p:ext uri="{BB962C8B-B14F-4D97-AF65-F5344CB8AC3E}">
        <p14:creationId xmlns:p14="http://schemas.microsoft.com/office/powerpoint/2010/main" val="2732210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Art 3">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D10096E1-7AA4-3695-82F5-7DAD7028D39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3" cy="6856612"/>
          </a:xfrm>
          <a:prstGeom prst="rect">
            <a:avLst/>
          </a:prstGeom>
        </p:spPr>
      </p:pic>
    </p:spTree>
    <p:extLst>
      <p:ext uri="{BB962C8B-B14F-4D97-AF65-F5344CB8AC3E}">
        <p14:creationId xmlns:p14="http://schemas.microsoft.com/office/powerpoint/2010/main" val="30692953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Art 4">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C55AD4A4-2991-D3F6-2545-9BA75BB147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9" y="3172"/>
            <a:ext cx="12180721" cy="6851656"/>
          </a:xfrm>
          <a:prstGeom prst="rect">
            <a:avLst/>
          </a:prstGeom>
        </p:spPr>
      </p:pic>
    </p:spTree>
    <p:extLst>
      <p:ext uri="{BB962C8B-B14F-4D97-AF65-F5344CB8AC3E}">
        <p14:creationId xmlns:p14="http://schemas.microsoft.com/office/powerpoint/2010/main" val="327013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E08955-08BB-4699-BDD8-1E3D7EEFD8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4">
            <a:extLst>
              <a:ext uri="{FF2B5EF4-FFF2-40B4-BE49-F238E27FC236}">
                <a16:creationId xmlns:a16="http://schemas.microsoft.com/office/drawing/2014/main" id="{AA3B2E1F-8BE8-6F6E-A1F6-527F51B3D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EB605B6C-A108-B529-76C2-7C90E4E90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mj-lt"/>
              </a:defRPr>
            </a:lvl1pPr>
          </a:lstStyle>
          <a:p>
            <a:fld id="{86134D44-37F0-44A1-8A08-E9432A030C07}" type="slidenum">
              <a:rPr lang="en-US" smtClean="0"/>
              <a:pPr/>
              <a:t>‹#›</a:t>
            </a:fld>
            <a:endParaRPr lang="en-US"/>
          </a:p>
        </p:txBody>
      </p:sp>
    </p:spTree>
    <p:extLst>
      <p:ext uri="{BB962C8B-B14F-4D97-AF65-F5344CB8AC3E}">
        <p14:creationId xmlns:p14="http://schemas.microsoft.com/office/powerpoint/2010/main" val="12578492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50" r:id="rId5"/>
    <p:sldLayoutId id="2147483663" r:id="rId6"/>
    <p:sldLayoutId id="2147483664" r:id="rId7"/>
    <p:sldLayoutId id="2147483665" r:id="rId8"/>
    <p:sldLayoutId id="2147483651" r:id="rId9"/>
    <p:sldLayoutId id="2147483666" r:id="rId10"/>
    <p:sldLayoutId id="2147483681" r:id="rId11"/>
    <p:sldLayoutId id="2147483671" r:id="rId12"/>
    <p:sldLayoutId id="2147483670" r:id="rId13"/>
    <p:sldLayoutId id="2147483652" r:id="rId14"/>
    <p:sldLayoutId id="2147483653" r:id="rId15"/>
    <p:sldLayoutId id="2147483672" r:id="rId16"/>
    <p:sldLayoutId id="2147483673" r:id="rId17"/>
    <p:sldLayoutId id="2147483675" r:id="rId18"/>
    <p:sldLayoutId id="2147483676" r:id="rId19"/>
    <p:sldLayoutId id="2147483677" r:id="rId20"/>
    <p:sldLayoutId id="2147483678" r:id="rId21"/>
    <p:sldLayoutId id="2147483679" r:id="rId22"/>
    <p:sldLayoutId id="2147483680" r:id="rId23"/>
    <p:sldLayoutId id="2147483654" r:id="rId24"/>
    <p:sldLayoutId id="2147483655" r:id="rId25"/>
    <p:sldLayoutId id="2147483656" r:id="rId26"/>
    <p:sldLayoutId id="2147483657" r:id="rId27"/>
    <p:sldLayoutId id="2147483667" r:id="rId28"/>
    <p:sldLayoutId id="2147483668" r:id="rId2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community.openai.com/t/cheat-sheet-mastering-temperature-and-top-p-in-chatgpt-api/172683" TargetMode="Externa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98A998-0233-2AD2-51CE-AAF4FE9C4446}"/>
              </a:ext>
            </a:extLst>
          </p:cNvPr>
          <p:cNvSpPr>
            <a:spLocks noGrp="1"/>
          </p:cNvSpPr>
          <p:nvPr>
            <p:ph type="title"/>
          </p:nvPr>
        </p:nvSpPr>
        <p:spPr>
          <a:xfrm>
            <a:off x="3283131" y="1958297"/>
            <a:ext cx="8569236" cy="1064303"/>
          </a:xfrm>
        </p:spPr>
        <p:txBody>
          <a:bodyPr>
            <a:noAutofit/>
          </a:bodyPr>
          <a:lstStyle/>
          <a:p>
            <a:pPr rtl="0"/>
            <a:r>
              <a:rPr lang="en-US" sz="2800" b="1" i="0" u="none" strike="noStrike" dirty="0">
                <a:effectLst/>
                <a:latin typeface="Open Sans" panose="020B0606030504020204" pitchFamily="34" charset="0"/>
              </a:rPr>
              <a:t>LLMs Cannot Reliably Identify and Reason About Security Vulnerabilities (Yet?): A Comprehensive Evaluation, Framework, and Benchmarks</a:t>
            </a:r>
            <a:endParaRPr lang="en-US" sz="2800" dirty="0"/>
          </a:p>
        </p:txBody>
      </p:sp>
      <p:sp>
        <p:nvSpPr>
          <p:cNvPr id="3" name="Text Placeholder 2">
            <a:extLst>
              <a:ext uri="{FF2B5EF4-FFF2-40B4-BE49-F238E27FC236}">
                <a16:creationId xmlns:a16="http://schemas.microsoft.com/office/drawing/2014/main" id="{9018651D-C1C9-2C2C-5DAE-68D0CF0C0E78}"/>
              </a:ext>
            </a:extLst>
          </p:cNvPr>
          <p:cNvSpPr>
            <a:spLocks noGrp="1"/>
          </p:cNvSpPr>
          <p:nvPr>
            <p:ph type="body" sz="quarter" idx="11"/>
          </p:nvPr>
        </p:nvSpPr>
        <p:spPr>
          <a:xfrm>
            <a:off x="3476086" y="5710935"/>
            <a:ext cx="8569235" cy="767969"/>
          </a:xfrm>
        </p:spPr>
        <p:txBody>
          <a:bodyPr vert="horz" lIns="91440" tIns="45720" rIns="91440" bIns="45720" rtlCol="0" anchor="t">
            <a:normAutofit/>
          </a:bodyPr>
          <a:lstStyle/>
          <a:p>
            <a:r>
              <a:rPr lang="en-US" sz="1800" dirty="0"/>
              <a:t>Presenter: Nirav Diwan</a:t>
            </a:r>
          </a:p>
        </p:txBody>
      </p:sp>
      <p:sp>
        <p:nvSpPr>
          <p:cNvPr id="2" name="Text Placeholder 1">
            <a:extLst>
              <a:ext uri="{FF2B5EF4-FFF2-40B4-BE49-F238E27FC236}">
                <a16:creationId xmlns:a16="http://schemas.microsoft.com/office/drawing/2014/main" id="{640067AC-9C77-E42B-121E-87C11EF20D74}"/>
              </a:ext>
            </a:extLst>
          </p:cNvPr>
          <p:cNvSpPr>
            <a:spLocks noGrp="1"/>
          </p:cNvSpPr>
          <p:nvPr>
            <p:ph type="body" sz="quarter" idx="12"/>
          </p:nvPr>
        </p:nvSpPr>
        <p:spPr>
          <a:xfrm>
            <a:off x="3476086" y="6209070"/>
            <a:ext cx="8569235" cy="767969"/>
          </a:xfrm>
        </p:spPr>
        <p:txBody>
          <a:bodyPr vert="horz" lIns="91440" tIns="45720" rIns="91440" bIns="45720" rtlCol="0" anchor="t">
            <a:normAutofit/>
          </a:bodyPr>
          <a:lstStyle/>
          <a:p>
            <a:r>
              <a:rPr lang="en-US" sz="1800" dirty="0">
                <a:ea typeface="Source Sans Pro"/>
              </a:rPr>
              <a:t>4/14/2025</a:t>
            </a:r>
          </a:p>
        </p:txBody>
      </p:sp>
      <p:pic>
        <p:nvPicPr>
          <p:cNvPr id="5" name="Picture 4">
            <a:extLst>
              <a:ext uri="{FF2B5EF4-FFF2-40B4-BE49-F238E27FC236}">
                <a16:creationId xmlns:a16="http://schemas.microsoft.com/office/drawing/2014/main" id="{BECF26C0-7BB4-1BE0-F544-E41DD4927B36}"/>
              </a:ext>
            </a:extLst>
          </p:cNvPr>
          <p:cNvPicPr>
            <a:picLocks noChangeAspect="1"/>
          </p:cNvPicPr>
          <p:nvPr/>
        </p:nvPicPr>
        <p:blipFill>
          <a:blip r:embed="rId3"/>
          <a:stretch>
            <a:fillRect/>
          </a:stretch>
        </p:blipFill>
        <p:spPr>
          <a:xfrm>
            <a:off x="3476086" y="3835401"/>
            <a:ext cx="8422558" cy="1143532"/>
          </a:xfrm>
          <a:prstGeom prst="rect">
            <a:avLst/>
          </a:prstGeom>
        </p:spPr>
      </p:pic>
      <p:sp>
        <p:nvSpPr>
          <p:cNvPr id="6" name="TextBox 5">
            <a:extLst>
              <a:ext uri="{FF2B5EF4-FFF2-40B4-BE49-F238E27FC236}">
                <a16:creationId xmlns:a16="http://schemas.microsoft.com/office/drawing/2014/main" id="{8B4D12EF-9BD7-0BE5-B7E6-1EB7D5EC0CB1}"/>
              </a:ext>
            </a:extLst>
          </p:cNvPr>
          <p:cNvSpPr txBox="1"/>
          <p:nvPr/>
        </p:nvSpPr>
        <p:spPr>
          <a:xfrm>
            <a:off x="5257800" y="5191569"/>
            <a:ext cx="5540188" cy="1200329"/>
          </a:xfrm>
          <a:prstGeom prst="rect">
            <a:avLst/>
          </a:prstGeom>
          <a:noFill/>
        </p:spPr>
        <p:txBody>
          <a:bodyPr wrap="square" rtlCol="0">
            <a:spAutoFit/>
          </a:bodyPr>
          <a:lstStyle/>
          <a:p>
            <a:pPr algn="l">
              <a:buNone/>
            </a:pPr>
            <a:r>
              <a:rPr lang="en-US" b="0" i="1" dirty="0">
                <a:solidFill>
                  <a:schemeClr val="bg1"/>
                </a:solidFill>
                <a:effectLst/>
                <a:latin typeface="Open Sans" panose="020B0606030504020204" pitchFamily="34" charset="0"/>
              </a:rPr>
              <a:t>2024 IEEE Symposium on Security and Privacy (SP)</a:t>
            </a:r>
          </a:p>
          <a:p>
            <a:br>
              <a:rPr lang="en-US" dirty="0">
                <a:solidFill>
                  <a:schemeClr val="bg1"/>
                </a:solidFill>
                <a:effectLst/>
              </a:rPr>
            </a:br>
            <a:endParaRPr lang="en-US" dirty="0">
              <a:solidFill>
                <a:schemeClr val="bg1"/>
              </a:solidFill>
              <a:effectLst/>
            </a:endParaRPr>
          </a:p>
          <a:p>
            <a:endParaRPr lang="en-US" dirty="0">
              <a:solidFill>
                <a:schemeClr val="bg1"/>
              </a:solidFill>
            </a:endParaRPr>
          </a:p>
        </p:txBody>
      </p:sp>
    </p:spTree>
    <p:extLst>
      <p:ext uri="{BB962C8B-B14F-4D97-AF65-F5344CB8AC3E}">
        <p14:creationId xmlns:p14="http://schemas.microsoft.com/office/powerpoint/2010/main" val="177695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10CD-0950-CE7E-052B-62389CA65275}"/>
              </a:ext>
            </a:extLst>
          </p:cNvPr>
          <p:cNvSpPr>
            <a:spLocks noGrp="1"/>
          </p:cNvSpPr>
          <p:nvPr>
            <p:ph type="title"/>
          </p:nvPr>
        </p:nvSpPr>
        <p:spPr/>
        <p:txBody>
          <a:bodyPr/>
          <a:lstStyle/>
          <a:p>
            <a:r>
              <a:rPr lang="en-US" dirty="0"/>
              <a:t>Overview</a:t>
            </a:r>
          </a:p>
        </p:txBody>
      </p:sp>
      <p:sp>
        <p:nvSpPr>
          <p:cNvPr id="3" name="Text Placeholder 2">
            <a:extLst>
              <a:ext uri="{FF2B5EF4-FFF2-40B4-BE49-F238E27FC236}">
                <a16:creationId xmlns:a16="http://schemas.microsoft.com/office/drawing/2014/main" id="{9D035D20-DDD4-9792-54AD-31AB0ADB756C}"/>
              </a:ext>
            </a:extLst>
          </p:cNvPr>
          <p:cNvSpPr>
            <a:spLocks noGrp="1"/>
          </p:cNvSpPr>
          <p:nvPr>
            <p:ph type="body" sz="quarter" idx="20"/>
          </p:nvPr>
        </p:nvSpPr>
        <p:spPr/>
        <p:txBody>
          <a:bodyPr>
            <a:noAutofit/>
          </a:bodyPr>
          <a:lstStyle/>
          <a:p>
            <a:pPr marL="457200" indent="-457200">
              <a:buFont typeface="Arial" panose="020B0604020202020204" pitchFamily="34" charset="0"/>
              <a:buChar char="•"/>
            </a:pPr>
            <a:r>
              <a:rPr lang="en-US" sz="2400" dirty="0"/>
              <a:t>Motivation</a:t>
            </a:r>
          </a:p>
          <a:p>
            <a:pPr marL="457200" indent="-457200">
              <a:buFont typeface="Arial" panose="020B0604020202020204" pitchFamily="34" charset="0"/>
              <a:buChar char="•"/>
            </a:pPr>
            <a:r>
              <a:rPr lang="en-US" sz="2400" dirty="0"/>
              <a:t>Framework Overview</a:t>
            </a:r>
          </a:p>
          <a:p>
            <a:pPr marL="457200" indent="-457200">
              <a:buFont typeface="Arial" panose="020B0604020202020204" pitchFamily="34" charset="0"/>
              <a:buChar char="•"/>
            </a:pPr>
            <a:r>
              <a:rPr lang="en-US" sz="2400" dirty="0"/>
              <a:t>Deep-dive into framework components</a:t>
            </a:r>
          </a:p>
          <a:p>
            <a:pPr marL="457200" indent="-457200">
              <a:buFont typeface="Arial" panose="020B0604020202020204" pitchFamily="34" charset="0"/>
              <a:buChar char="•"/>
            </a:pPr>
            <a:r>
              <a:rPr lang="en-US" sz="2400" dirty="0"/>
              <a:t>Experiments and Evaluation</a:t>
            </a:r>
          </a:p>
          <a:p>
            <a:pPr marL="457200" indent="-457200">
              <a:buFont typeface="Arial" panose="020B0604020202020204" pitchFamily="34" charset="0"/>
              <a:buChar char="•"/>
            </a:pPr>
            <a:r>
              <a:rPr lang="en-US" sz="2400" dirty="0"/>
              <a:t>Discussion</a:t>
            </a:r>
          </a:p>
          <a:p>
            <a:pPr marL="1143000" lvl="1" indent="-457200"/>
            <a:r>
              <a:rPr lang="en-US" sz="2000" dirty="0"/>
              <a:t>Score Summaries</a:t>
            </a:r>
          </a:p>
          <a:p>
            <a:pPr marL="1143000" lvl="1" indent="-457200"/>
            <a:r>
              <a:rPr lang="en-US" sz="2000" dirty="0"/>
              <a:t>Strengths</a:t>
            </a:r>
          </a:p>
          <a:p>
            <a:pPr marL="1143000" lvl="1" indent="-457200"/>
            <a:r>
              <a:rPr lang="en-US" sz="2000" dirty="0"/>
              <a:t>Weakness</a:t>
            </a:r>
          </a:p>
          <a:p>
            <a:pPr marL="1143000" lvl="1" indent="-457200"/>
            <a:r>
              <a:rPr lang="en-US" sz="2000" dirty="0"/>
              <a:t>Takeaways</a:t>
            </a:r>
          </a:p>
          <a:p>
            <a:pPr marL="1143000" lvl="1" indent="-457200"/>
            <a:r>
              <a:rPr lang="en-US" sz="2000" dirty="0"/>
              <a:t>Future directions</a:t>
            </a:r>
          </a:p>
        </p:txBody>
      </p:sp>
      <p:sp>
        <p:nvSpPr>
          <p:cNvPr id="4" name="Text Placeholder 3">
            <a:extLst>
              <a:ext uri="{FF2B5EF4-FFF2-40B4-BE49-F238E27FC236}">
                <a16:creationId xmlns:a16="http://schemas.microsoft.com/office/drawing/2014/main" id="{292043D2-FB1D-5132-A2C5-9E51B4F15ECC}"/>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CE26DF8-0F3E-9B41-C58D-F04C50F53E5F}"/>
              </a:ext>
            </a:extLst>
          </p:cNvPr>
          <p:cNvSpPr>
            <a:spLocks noGrp="1"/>
          </p:cNvSpPr>
          <p:nvPr>
            <p:ph type="sldNum" sz="quarter" idx="17"/>
          </p:nvPr>
        </p:nvSpPr>
        <p:spPr/>
        <p:txBody>
          <a:bodyPr/>
          <a:lstStyle/>
          <a:p>
            <a:fld id="{86134D44-37F0-44A1-8A08-E9432A030C07}" type="slidenum">
              <a:rPr lang="en-US" smtClean="0"/>
              <a:pPr/>
              <a:t>2</a:t>
            </a:fld>
            <a:endParaRPr lang="en-US"/>
          </a:p>
        </p:txBody>
      </p:sp>
    </p:spTree>
    <p:extLst>
      <p:ext uri="{BB962C8B-B14F-4D97-AF65-F5344CB8AC3E}">
        <p14:creationId xmlns:p14="http://schemas.microsoft.com/office/powerpoint/2010/main" val="3586854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350B-A188-BB37-9702-686C408F6459}"/>
              </a:ext>
            </a:extLst>
          </p:cNvPr>
          <p:cNvSpPr>
            <a:spLocks noGrp="1"/>
          </p:cNvSpPr>
          <p:nvPr>
            <p:ph type="title"/>
          </p:nvPr>
        </p:nvSpPr>
        <p:spPr/>
        <p:txBody>
          <a:bodyPr/>
          <a:lstStyle/>
          <a:p>
            <a:r>
              <a:rPr lang="en-US" b="1" dirty="0"/>
              <a:t>Motivation</a:t>
            </a:r>
          </a:p>
        </p:txBody>
      </p:sp>
      <p:sp>
        <p:nvSpPr>
          <p:cNvPr id="3" name="Text Placeholder 2">
            <a:extLst>
              <a:ext uri="{FF2B5EF4-FFF2-40B4-BE49-F238E27FC236}">
                <a16:creationId xmlns:a16="http://schemas.microsoft.com/office/drawing/2014/main" id="{3A2539FD-7AE3-1D4C-C736-4252EDD9961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ea typeface="+mn-lt"/>
                <a:cs typeface="+mn-lt"/>
              </a:rPr>
              <a:t>Research Question: </a:t>
            </a:r>
            <a:r>
              <a:rPr lang="en-US" sz="2400" dirty="0">
                <a:ea typeface="+mn-lt"/>
                <a:cs typeface="+mn-lt"/>
              </a:rPr>
              <a:t>Can LLMs be used as </a:t>
            </a:r>
            <a:r>
              <a:rPr lang="en-US" sz="2400" i="1" dirty="0">
                <a:ea typeface="+mn-lt"/>
                <a:cs typeface="+mn-lt"/>
              </a:rPr>
              <a:t>helpful</a:t>
            </a:r>
            <a:r>
              <a:rPr lang="en-US" sz="2400" dirty="0">
                <a:ea typeface="+mn-lt"/>
                <a:cs typeface="+mn-lt"/>
              </a:rPr>
              <a:t> security assistants for </a:t>
            </a:r>
            <a:r>
              <a:rPr lang="en-US" sz="2400" i="1" dirty="0">
                <a:ea typeface="+mn-lt"/>
                <a:cs typeface="+mn-lt"/>
              </a:rPr>
              <a:t>vulnerability detection</a:t>
            </a:r>
            <a:r>
              <a:rPr lang="en-US" sz="2400" dirty="0">
                <a:ea typeface="+mn-lt"/>
                <a:cs typeface="+mn-lt"/>
              </a:rPr>
              <a:t>?</a:t>
            </a:r>
          </a:p>
          <a:p>
            <a:pPr marL="342900" indent="-342900">
              <a:buFont typeface="Arial" panose="020B0604020202020204" pitchFamily="34" charset="0"/>
              <a:buChar char="•"/>
            </a:pPr>
            <a:r>
              <a:rPr lang="en-US" sz="2400" dirty="0">
                <a:ea typeface="+mn-lt"/>
                <a:cs typeface="+mn-lt"/>
              </a:rPr>
              <a:t>Code vulnerabilities can be hard to spot</a:t>
            </a:r>
            <a:endParaRPr lang="en-US" sz="2800" dirty="0">
              <a:ea typeface="+mn-lt"/>
              <a:cs typeface="+mn-lt"/>
            </a:endParaRPr>
          </a:p>
        </p:txBody>
      </p:sp>
      <p:sp>
        <p:nvSpPr>
          <p:cNvPr id="4" name="Text Placeholder 3">
            <a:extLst>
              <a:ext uri="{FF2B5EF4-FFF2-40B4-BE49-F238E27FC236}">
                <a16:creationId xmlns:a16="http://schemas.microsoft.com/office/drawing/2014/main" id="{9B889314-4858-8C3F-8B5A-0257E7908D33}"/>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191EB636-0FA7-BE8D-0349-9D09948F5AFB}"/>
              </a:ext>
            </a:extLst>
          </p:cNvPr>
          <p:cNvSpPr>
            <a:spLocks noGrp="1"/>
          </p:cNvSpPr>
          <p:nvPr>
            <p:ph type="sldNum" sz="quarter" idx="17"/>
          </p:nvPr>
        </p:nvSpPr>
        <p:spPr/>
        <p:txBody>
          <a:bodyPr/>
          <a:lstStyle/>
          <a:p>
            <a:fld id="{86134D44-37F0-44A1-8A08-E9432A030C07}" type="slidenum">
              <a:rPr lang="en-US" smtClean="0"/>
              <a:pPr/>
              <a:t>3</a:t>
            </a:fld>
            <a:endParaRPr lang="en-US"/>
          </a:p>
        </p:txBody>
      </p:sp>
      <p:sp>
        <p:nvSpPr>
          <p:cNvPr id="6" name="Rectangle 5">
            <a:extLst>
              <a:ext uri="{FF2B5EF4-FFF2-40B4-BE49-F238E27FC236}">
                <a16:creationId xmlns:a16="http://schemas.microsoft.com/office/drawing/2014/main" id="{525D3F44-3364-48EC-7231-2390555D822C}"/>
              </a:ext>
            </a:extLst>
          </p:cNvPr>
          <p:cNvSpPr/>
          <p:nvPr/>
        </p:nvSpPr>
        <p:spPr>
          <a:xfrm>
            <a:off x="2565874" y="3254906"/>
            <a:ext cx="7060252" cy="1201993"/>
          </a:xfrm>
          <a:prstGeom prst="rect">
            <a:avLst/>
          </a:prstGeom>
          <a:solidFill>
            <a:schemeClr val="accent4">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0" i="0" dirty="0" err="1">
                <a:solidFill>
                  <a:schemeClr val="accent4"/>
                </a:solidFill>
                <a:effectLst/>
                <a:latin typeface="system-ui"/>
              </a:rPr>
              <a:t>user_supplied_filename</a:t>
            </a:r>
            <a:r>
              <a:rPr lang="en-US" sz="2400" b="0" i="0" dirty="0">
                <a:solidFill>
                  <a:schemeClr val="accent4"/>
                </a:solidFill>
                <a:effectLst/>
                <a:latin typeface="system-ui"/>
              </a:rPr>
              <a:t> = "</a:t>
            </a:r>
            <a:r>
              <a:rPr lang="en-US" sz="2400" b="0" i="0" dirty="0" err="1">
                <a:solidFill>
                  <a:schemeClr val="accent4"/>
                </a:solidFill>
                <a:effectLst/>
                <a:latin typeface="system-ui"/>
              </a:rPr>
              <a:t>report.txt</a:t>
            </a:r>
            <a:r>
              <a:rPr lang="en-US" sz="2400" b="0" i="0" dirty="0">
                <a:solidFill>
                  <a:schemeClr val="accent4"/>
                </a:solidFill>
                <a:effectLst/>
                <a:latin typeface="system-ui"/>
              </a:rPr>
              <a:t>; rm -rf /”</a:t>
            </a:r>
          </a:p>
          <a:p>
            <a:r>
              <a:rPr lang="en-US" sz="2400" b="0" i="0" dirty="0" err="1">
                <a:solidFill>
                  <a:schemeClr val="accent4"/>
                </a:solidFill>
                <a:effectLst/>
                <a:latin typeface="system-ui"/>
              </a:rPr>
              <a:t>command_to_run</a:t>
            </a:r>
            <a:r>
              <a:rPr lang="en-US" sz="2400" b="0" i="0" dirty="0">
                <a:solidFill>
                  <a:schemeClr val="accent4"/>
                </a:solidFill>
                <a:effectLst/>
                <a:latin typeface="system-ui"/>
              </a:rPr>
              <a:t> = "ls -l " + </a:t>
            </a:r>
            <a:r>
              <a:rPr lang="en-US" sz="2400" b="0" i="0" dirty="0" err="1">
                <a:solidFill>
                  <a:schemeClr val="accent4"/>
                </a:solidFill>
                <a:effectLst/>
                <a:latin typeface="system-ui"/>
              </a:rPr>
              <a:t>user_supplied_filename</a:t>
            </a:r>
            <a:r>
              <a:rPr lang="en-US" sz="2400" b="0" i="0" dirty="0">
                <a:solidFill>
                  <a:schemeClr val="accent4"/>
                </a:solidFill>
                <a:effectLst/>
                <a:latin typeface="system-ui"/>
              </a:rPr>
              <a:t> #</a:t>
            </a:r>
          </a:p>
        </p:txBody>
      </p:sp>
    </p:spTree>
    <p:extLst>
      <p:ext uri="{BB962C8B-B14F-4D97-AF65-F5344CB8AC3E}">
        <p14:creationId xmlns:p14="http://schemas.microsoft.com/office/powerpoint/2010/main" val="3393201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A156C-17BD-5402-322D-F6D2073D2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E14C2-F124-3E15-B7F5-C1B9307CA673}"/>
              </a:ext>
            </a:extLst>
          </p:cNvPr>
          <p:cNvSpPr>
            <a:spLocks noGrp="1"/>
          </p:cNvSpPr>
          <p:nvPr>
            <p:ph type="title"/>
          </p:nvPr>
        </p:nvSpPr>
        <p:spPr/>
        <p:txBody>
          <a:bodyPr/>
          <a:lstStyle/>
          <a:p>
            <a:r>
              <a:rPr lang="en-US" b="1" dirty="0"/>
              <a:t>Motivation</a:t>
            </a:r>
          </a:p>
        </p:txBody>
      </p:sp>
      <p:sp>
        <p:nvSpPr>
          <p:cNvPr id="3" name="Text Placeholder 2">
            <a:extLst>
              <a:ext uri="{FF2B5EF4-FFF2-40B4-BE49-F238E27FC236}">
                <a16:creationId xmlns:a16="http://schemas.microsoft.com/office/drawing/2014/main" id="{74241774-0C73-1AD6-BCD7-598B45DA6DF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ea typeface="+mn-lt"/>
                <a:cs typeface="+mn-lt"/>
              </a:rPr>
              <a:t>Research Question: </a:t>
            </a:r>
            <a:r>
              <a:rPr lang="en-US" sz="2400" dirty="0">
                <a:ea typeface="+mn-lt"/>
                <a:cs typeface="+mn-lt"/>
              </a:rPr>
              <a:t>Can LLMs be used as </a:t>
            </a:r>
            <a:r>
              <a:rPr lang="en-US" sz="2400" i="1" dirty="0">
                <a:ea typeface="+mn-lt"/>
                <a:cs typeface="+mn-lt"/>
              </a:rPr>
              <a:t>helpful</a:t>
            </a:r>
            <a:r>
              <a:rPr lang="en-US" sz="2400" dirty="0">
                <a:ea typeface="+mn-lt"/>
                <a:cs typeface="+mn-lt"/>
              </a:rPr>
              <a:t> security assistants for </a:t>
            </a:r>
            <a:r>
              <a:rPr lang="en-US" sz="2400" i="1" dirty="0">
                <a:ea typeface="+mn-lt"/>
                <a:cs typeface="+mn-lt"/>
              </a:rPr>
              <a:t>vulnerability detection</a:t>
            </a:r>
            <a:r>
              <a:rPr lang="en-US" sz="2400" dirty="0">
                <a:ea typeface="+mn-lt"/>
                <a:cs typeface="+mn-lt"/>
              </a:rPr>
              <a:t>?</a:t>
            </a:r>
          </a:p>
          <a:p>
            <a:pPr marL="342900" indent="-342900">
              <a:buFont typeface="Arial" panose="020B0604020202020204" pitchFamily="34" charset="0"/>
              <a:buChar char="•"/>
            </a:pPr>
            <a:r>
              <a:rPr lang="en-US" sz="2400" dirty="0">
                <a:ea typeface="+mn-lt"/>
                <a:cs typeface="+mn-lt"/>
              </a:rPr>
              <a:t>Code vulnerabilities can be hard to spot</a:t>
            </a: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r>
              <a:rPr lang="en-US" sz="2400" dirty="0">
                <a:solidFill>
                  <a:srgbClr val="FF0000"/>
                </a:solidFill>
              </a:rPr>
              <a:t>CWE-78: Improper Neutralization of Special Elements used in an OS Command ('OS Command Injection').</a:t>
            </a:r>
            <a:endParaRPr lang="en-US" sz="2800" dirty="0">
              <a:solidFill>
                <a:srgbClr val="FF0000"/>
              </a:solidFill>
              <a:ea typeface="+mn-lt"/>
              <a:cs typeface="+mn-lt"/>
            </a:endParaRPr>
          </a:p>
        </p:txBody>
      </p:sp>
      <p:sp>
        <p:nvSpPr>
          <p:cNvPr id="4" name="Text Placeholder 3">
            <a:extLst>
              <a:ext uri="{FF2B5EF4-FFF2-40B4-BE49-F238E27FC236}">
                <a16:creationId xmlns:a16="http://schemas.microsoft.com/office/drawing/2014/main" id="{A4CBEBCD-4C89-0764-92A9-BAA85BC8FE47}"/>
              </a:ext>
            </a:extLst>
          </p:cNvPr>
          <p:cNvSpPr>
            <a:spLocks noGrp="1"/>
          </p:cNvSpPr>
          <p:nvPr>
            <p:ph type="body"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CC17C18C-892B-7C26-37BC-D83F5A865DEA}"/>
              </a:ext>
            </a:extLst>
          </p:cNvPr>
          <p:cNvSpPr>
            <a:spLocks noGrp="1"/>
          </p:cNvSpPr>
          <p:nvPr>
            <p:ph type="sldNum" sz="quarter" idx="17"/>
          </p:nvPr>
        </p:nvSpPr>
        <p:spPr/>
        <p:txBody>
          <a:bodyPr/>
          <a:lstStyle/>
          <a:p>
            <a:fld id="{86134D44-37F0-44A1-8A08-E9432A030C07}" type="slidenum">
              <a:rPr lang="en-US" smtClean="0"/>
              <a:pPr/>
              <a:t>4</a:t>
            </a:fld>
            <a:endParaRPr lang="en-US"/>
          </a:p>
        </p:txBody>
      </p:sp>
      <p:sp>
        <p:nvSpPr>
          <p:cNvPr id="6" name="Rectangle 5">
            <a:extLst>
              <a:ext uri="{FF2B5EF4-FFF2-40B4-BE49-F238E27FC236}">
                <a16:creationId xmlns:a16="http://schemas.microsoft.com/office/drawing/2014/main" id="{43D1D20E-DEF5-A7A3-63C1-83959EA29E49}"/>
              </a:ext>
            </a:extLst>
          </p:cNvPr>
          <p:cNvSpPr/>
          <p:nvPr/>
        </p:nvSpPr>
        <p:spPr>
          <a:xfrm>
            <a:off x="2565874" y="3254906"/>
            <a:ext cx="7060252" cy="1201993"/>
          </a:xfrm>
          <a:prstGeom prst="rect">
            <a:avLst/>
          </a:prstGeom>
          <a:solidFill>
            <a:schemeClr val="accent4">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0" i="0" dirty="0" err="1">
                <a:solidFill>
                  <a:schemeClr val="accent4"/>
                </a:solidFill>
                <a:effectLst/>
                <a:latin typeface="system-ui"/>
              </a:rPr>
              <a:t>user_supplied_filename</a:t>
            </a:r>
            <a:r>
              <a:rPr lang="en-US" sz="2400" b="0" i="0" dirty="0">
                <a:solidFill>
                  <a:schemeClr val="accent4"/>
                </a:solidFill>
                <a:effectLst/>
                <a:latin typeface="system-ui"/>
              </a:rPr>
              <a:t> = "</a:t>
            </a:r>
            <a:r>
              <a:rPr lang="en-US" sz="2400" b="0" i="0" dirty="0" err="1">
                <a:solidFill>
                  <a:schemeClr val="accent4"/>
                </a:solidFill>
                <a:effectLst/>
                <a:latin typeface="system-ui"/>
              </a:rPr>
              <a:t>report.txt</a:t>
            </a:r>
            <a:r>
              <a:rPr lang="en-US" sz="2400" b="0" i="0" dirty="0">
                <a:solidFill>
                  <a:schemeClr val="accent4"/>
                </a:solidFill>
                <a:effectLst/>
                <a:latin typeface="system-ui"/>
              </a:rPr>
              <a:t>; rm -rf /”</a:t>
            </a:r>
          </a:p>
          <a:p>
            <a:r>
              <a:rPr lang="en-US" sz="2400" b="0" i="0" dirty="0" err="1">
                <a:solidFill>
                  <a:schemeClr val="accent4"/>
                </a:solidFill>
                <a:effectLst/>
                <a:latin typeface="system-ui"/>
              </a:rPr>
              <a:t>command_to_run</a:t>
            </a:r>
            <a:r>
              <a:rPr lang="en-US" sz="2400" b="0" i="0" dirty="0">
                <a:solidFill>
                  <a:schemeClr val="accent4"/>
                </a:solidFill>
                <a:effectLst/>
                <a:latin typeface="system-ui"/>
              </a:rPr>
              <a:t> = "ls -l " + </a:t>
            </a:r>
            <a:r>
              <a:rPr lang="en-US" sz="2400" b="0" i="0" dirty="0" err="1">
                <a:solidFill>
                  <a:schemeClr val="accent4"/>
                </a:solidFill>
                <a:effectLst/>
                <a:latin typeface="system-ui"/>
              </a:rPr>
              <a:t>user_supplied_filename</a:t>
            </a:r>
            <a:r>
              <a:rPr lang="en-US" sz="2400" b="0" i="0" dirty="0">
                <a:solidFill>
                  <a:schemeClr val="accent4"/>
                </a:solidFill>
                <a:effectLst/>
                <a:latin typeface="system-ui"/>
              </a:rPr>
              <a:t> #</a:t>
            </a:r>
          </a:p>
        </p:txBody>
      </p:sp>
      <p:sp>
        <p:nvSpPr>
          <p:cNvPr id="7" name="Rectangle 6">
            <a:extLst>
              <a:ext uri="{FF2B5EF4-FFF2-40B4-BE49-F238E27FC236}">
                <a16:creationId xmlns:a16="http://schemas.microsoft.com/office/drawing/2014/main" id="{05202A74-B43E-9932-2A45-45A7328BF734}"/>
              </a:ext>
            </a:extLst>
          </p:cNvPr>
          <p:cNvSpPr/>
          <p:nvPr/>
        </p:nvSpPr>
        <p:spPr>
          <a:xfrm>
            <a:off x="2629956" y="3855902"/>
            <a:ext cx="6838509" cy="4653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820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5933-8D47-A8C8-D595-A1D5D15DE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0E936-DFC2-01CE-9F5E-B382F55EAF2D}"/>
              </a:ext>
            </a:extLst>
          </p:cNvPr>
          <p:cNvSpPr>
            <a:spLocks noGrp="1"/>
          </p:cNvSpPr>
          <p:nvPr>
            <p:ph type="title"/>
          </p:nvPr>
        </p:nvSpPr>
        <p:spPr/>
        <p:txBody>
          <a:bodyPr/>
          <a:lstStyle/>
          <a:p>
            <a:r>
              <a:rPr lang="en-US" b="1" dirty="0"/>
              <a:t>Motivation </a:t>
            </a:r>
            <a:r>
              <a:rPr lang="en-US" b="1" dirty="0" err="1"/>
              <a:t>cntd</a:t>
            </a:r>
            <a:r>
              <a:rPr lang="en-US" b="1" dirty="0"/>
              <a:t> …</a:t>
            </a:r>
          </a:p>
        </p:txBody>
      </p:sp>
      <p:sp>
        <p:nvSpPr>
          <p:cNvPr id="3" name="Text Placeholder 2">
            <a:extLst>
              <a:ext uri="{FF2B5EF4-FFF2-40B4-BE49-F238E27FC236}">
                <a16:creationId xmlns:a16="http://schemas.microsoft.com/office/drawing/2014/main" id="{D7E4B82D-CC8B-B674-2ABE-CB24847358EA}"/>
              </a:ext>
            </a:extLst>
          </p:cNvPr>
          <p:cNvSpPr>
            <a:spLocks noGrp="1"/>
          </p:cNvSpPr>
          <p:nvPr>
            <p:ph type="body" sz="quarter" idx="20"/>
          </p:nvPr>
        </p:nvSpPr>
        <p:spPr>
          <a:xfrm>
            <a:off x="652463" y="1795749"/>
            <a:ext cx="10589278" cy="4120309"/>
          </a:xfrm>
        </p:spPr>
        <p:txBody>
          <a:bodyPr>
            <a:normAutofit/>
          </a:bodyPr>
          <a:lstStyle/>
          <a:p>
            <a:pPr marL="342900" indent="-342900">
              <a:buFont typeface="Arial" panose="020B0604020202020204" pitchFamily="34" charset="0"/>
              <a:buChar char="•"/>
            </a:pPr>
            <a:r>
              <a:rPr lang="en-US" sz="2400" b="1" dirty="0">
                <a:ea typeface="+mn-lt"/>
                <a:cs typeface="+mn-lt"/>
              </a:rPr>
              <a:t>Current best solution: </a:t>
            </a:r>
            <a:r>
              <a:rPr lang="en-US" sz="2400" dirty="0">
                <a:ea typeface="+mn-lt"/>
                <a:cs typeface="+mn-lt"/>
              </a:rPr>
              <a:t>Security Based Static Analyzers</a:t>
            </a:r>
          </a:p>
          <a:p>
            <a:pPr marL="1028700" lvl="1" indent="-342900"/>
            <a:r>
              <a:rPr lang="en-US" sz="2000" dirty="0" err="1">
                <a:ea typeface="+mn-lt"/>
                <a:cs typeface="+mn-lt"/>
              </a:rPr>
              <a:t>Eg</a:t>
            </a:r>
            <a:r>
              <a:rPr lang="en-US" sz="2000" dirty="0">
                <a:ea typeface="+mn-lt"/>
                <a:cs typeface="+mn-lt"/>
              </a:rPr>
              <a:t>: </a:t>
            </a:r>
            <a:r>
              <a:rPr lang="en-US" sz="2000" dirty="0" err="1">
                <a:ea typeface="+mn-lt"/>
                <a:cs typeface="+mn-lt"/>
              </a:rPr>
              <a:t>CodeQL</a:t>
            </a:r>
            <a:r>
              <a:rPr lang="en-US" sz="2000" dirty="0">
                <a:ea typeface="+mn-lt"/>
                <a:cs typeface="+mn-lt"/>
              </a:rPr>
              <a:t>, Bandit, </a:t>
            </a:r>
            <a:r>
              <a:rPr lang="en-US" sz="2000" dirty="0" err="1">
                <a:ea typeface="+mn-lt"/>
                <a:cs typeface="+mn-lt"/>
              </a:rPr>
              <a:t>Codeguru</a:t>
            </a:r>
            <a:r>
              <a:rPr lang="en-US" sz="2000" dirty="0">
                <a:ea typeface="+mn-lt"/>
                <a:cs typeface="+mn-lt"/>
              </a:rPr>
              <a:t>, </a:t>
            </a:r>
            <a:r>
              <a:rPr lang="en-US" sz="2000" dirty="0" err="1">
                <a:ea typeface="+mn-lt"/>
                <a:cs typeface="+mn-lt"/>
              </a:rPr>
              <a:t>Semgrep</a:t>
            </a:r>
            <a:br>
              <a:rPr lang="en-US" sz="2000" dirty="0">
                <a:ea typeface="+mn-lt"/>
                <a:cs typeface="+mn-lt"/>
              </a:rPr>
            </a:br>
            <a:endParaRPr lang="en-US" sz="2000" dirty="0">
              <a:ea typeface="+mn-lt"/>
              <a:cs typeface="+mn-lt"/>
            </a:endParaRPr>
          </a:p>
          <a:p>
            <a:pPr marL="342900" indent="-342900">
              <a:buFont typeface="Arial" panose="020B0604020202020204" pitchFamily="34" charset="0"/>
              <a:buChar char="•"/>
            </a:pPr>
            <a:r>
              <a:rPr lang="en-US" sz="2400" dirty="0">
                <a:ea typeface="+mn-lt"/>
                <a:cs typeface="+mn-lt"/>
              </a:rPr>
              <a:t>How do they work?</a:t>
            </a:r>
          </a:p>
          <a:p>
            <a:pPr marL="1028700" lvl="1" indent="-342900"/>
            <a:r>
              <a:rPr lang="en-US" sz="2000" i="1" dirty="0">
                <a:ea typeface="+mn-lt"/>
                <a:cs typeface="+mn-lt"/>
              </a:rPr>
              <a:t>Current method:  </a:t>
            </a:r>
            <a:r>
              <a:rPr lang="en-US" sz="2000" dirty="0">
                <a:ea typeface="+mn-lt"/>
                <a:cs typeface="+mn-lt"/>
              </a:rPr>
              <a:t>Heuristics + supervised machine learning</a:t>
            </a:r>
          </a:p>
          <a:p>
            <a:pPr marL="1028700" lvl="1" indent="-342900"/>
            <a:r>
              <a:rPr lang="en-US" sz="2000" dirty="0">
                <a:ea typeface="+mn-lt"/>
                <a:cs typeface="+mn-lt"/>
              </a:rPr>
              <a:t>Too many false positives on a snippet level</a:t>
            </a:r>
            <a:r>
              <a:rPr lang="en-US" sz="2000" baseline="30000" dirty="0">
                <a:ea typeface="+mn-lt"/>
                <a:cs typeface="+mn-lt"/>
              </a:rPr>
              <a:t>1</a:t>
            </a:r>
            <a:br>
              <a:rPr lang="en-US" sz="2000" dirty="0">
                <a:ea typeface="+mn-lt"/>
                <a:cs typeface="+mn-lt"/>
              </a:rPr>
            </a:br>
            <a:endParaRPr lang="en-US" sz="2000" dirty="0">
              <a:ea typeface="+mn-lt"/>
              <a:cs typeface="+mn-lt"/>
            </a:endParaRPr>
          </a:p>
          <a:p>
            <a:pPr marL="342900" indent="-342900">
              <a:buFont typeface="Arial" panose="020B0604020202020204" pitchFamily="34" charset="0"/>
              <a:buChar char="•"/>
            </a:pPr>
            <a:r>
              <a:rPr lang="en-US" sz="2400" b="1" dirty="0">
                <a:ea typeface="+mn-lt"/>
                <a:cs typeface="+mn-lt"/>
              </a:rPr>
              <a:t>Goal</a:t>
            </a:r>
            <a:r>
              <a:rPr lang="en-US" sz="2400" dirty="0">
                <a:ea typeface="+mn-lt"/>
                <a:cs typeface="+mn-lt"/>
              </a:rPr>
              <a:t>: Evaluate LLMs for code vulnerability (with reasoning) in an automatic way</a:t>
            </a:r>
          </a:p>
        </p:txBody>
      </p:sp>
      <p:sp>
        <p:nvSpPr>
          <p:cNvPr id="4" name="Text Placeholder 3">
            <a:extLst>
              <a:ext uri="{FF2B5EF4-FFF2-40B4-BE49-F238E27FC236}">
                <a16:creationId xmlns:a16="http://schemas.microsoft.com/office/drawing/2014/main" id="{F8F4BFF9-A366-AC9A-68E5-529297BF315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1986B15-70D5-67FE-85EA-1FB223E5AC25}"/>
              </a:ext>
            </a:extLst>
          </p:cNvPr>
          <p:cNvSpPr>
            <a:spLocks noGrp="1"/>
          </p:cNvSpPr>
          <p:nvPr>
            <p:ph type="sldNum" sz="quarter" idx="17"/>
          </p:nvPr>
        </p:nvSpPr>
        <p:spPr/>
        <p:txBody>
          <a:bodyPr/>
          <a:lstStyle/>
          <a:p>
            <a:fld id="{86134D44-37F0-44A1-8A08-E9432A030C07}" type="slidenum">
              <a:rPr lang="en-US" smtClean="0"/>
              <a:pPr/>
              <a:t>5</a:t>
            </a:fld>
            <a:endParaRPr lang="en-US"/>
          </a:p>
        </p:txBody>
      </p:sp>
      <p:sp>
        <p:nvSpPr>
          <p:cNvPr id="6" name="TextBox 5">
            <a:extLst>
              <a:ext uri="{FF2B5EF4-FFF2-40B4-BE49-F238E27FC236}">
                <a16:creationId xmlns:a16="http://schemas.microsoft.com/office/drawing/2014/main" id="{ADA4ED82-99BD-4F56-B42D-D80F0269F44F}"/>
              </a:ext>
            </a:extLst>
          </p:cNvPr>
          <p:cNvSpPr txBox="1"/>
          <p:nvPr/>
        </p:nvSpPr>
        <p:spPr>
          <a:xfrm>
            <a:off x="6095999" y="5604387"/>
            <a:ext cx="5835445" cy="738664"/>
          </a:xfrm>
          <a:prstGeom prst="rect">
            <a:avLst/>
          </a:prstGeom>
          <a:noFill/>
        </p:spPr>
        <p:txBody>
          <a:bodyPr wrap="square" rtlCol="0">
            <a:spAutoFit/>
          </a:bodyPr>
          <a:lstStyle/>
          <a:p>
            <a:r>
              <a:rPr lang="en-US" sz="1400" i="1" baseline="30000" dirty="0">
                <a:solidFill>
                  <a:srgbClr val="000000"/>
                </a:solidFill>
                <a:effectLst/>
                <a:latin typeface="Lucida Grande" panose="020B0600040502020204" pitchFamily="34" charset="0"/>
              </a:rPr>
              <a:t>1</a:t>
            </a:r>
            <a:r>
              <a:rPr lang="en-US" sz="1400" i="1" dirty="0">
                <a:solidFill>
                  <a:srgbClr val="000000"/>
                </a:solidFill>
                <a:effectLst/>
                <a:latin typeface="Lucida Grande" panose="020B0600040502020204" pitchFamily="34" charset="0"/>
              </a:rPr>
              <a:t>Comparison of Static Application Security Testing Tools and Large Language Models for Repo-level Vulnerability </a:t>
            </a:r>
            <a:r>
              <a:rPr lang="en-US" sz="1400" i="1" dirty="0" err="1">
                <a:solidFill>
                  <a:srgbClr val="000000"/>
                </a:solidFill>
                <a:effectLst/>
                <a:latin typeface="Lucida Grande" panose="020B0600040502020204" pitchFamily="34" charset="0"/>
              </a:rPr>
              <a:t>Detectio</a:t>
            </a:r>
            <a:endParaRPr lang="en-US" sz="1400" i="1" dirty="0">
              <a:solidFill>
                <a:srgbClr val="000000"/>
              </a:solidFill>
              <a:effectLst/>
              <a:latin typeface="Lucida Grande" panose="020B0600040502020204" pitchFamily="34" charset="0"/>
            </a:endParaRPr>
          </a:p>
          <a:p>
            <a:endParaRPr lang="en-US" sz="1400" i="1" dirty="0"/>
          </a:p>
        </p:txBody>
      </p:sp>
    </p:spTree>
    <p:extLst>
      <p:ext uri="{BB962C8B-B14F-4D97-AF65-F5344CB8AC3E}">
        <p14:creationId xmlns:p14="http://schemas.microsoft.com/office/powerpoint/2010/main" val="28194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7755-272A-4314-6F66-2F934C115323}"/>
              </a:ext>
            </a:extLst>
          </p:cNvPr>
          <p:cNvSpPr>
            <a:spLocks noGrp="1"/>
          </p:cNvSpPr>
          <p:nvPr>
            <p:ph type="title"/>
          </p:nvPr>
        </p:nvSpPr>
        <p:spPr/>
        <p:txBody>
          <a:bodyPr/>
          <a:lstStyle/>
          <a:p>
            <a:r>
              <a:rPr lang="en-US" dirty="0"/>
              <a:t>Challenges</a:t>
            </a:r>
          </a:p>
        </p:txBody>
      </p:sp>
      <p:sp>
        <p:nvSpPr>
          <p:cNvPr id="3" name="Text Placeholder 2">
            <a:extLst>
              <a:ext uri="{FF2B5EF4-FFF2-40B4-BE49-F238E27FC236}">
                <a16:creationId xmlns:a16="http://schemas.microsoft.com/office/drawing/2014/main" id="{65BC4F88-B290-6EB7-DF06-F8CE4A8B851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Main Challenge : </a:t>
            </a:r>
            <a:r>
              <a:rPr lang="en-US" sz="2400" dirty="0"/>
              <a:t>Lack of datasets</a:t>
            </a:r>
          </a:p>
          <a:p>
            <a:pPr marL="1028700" lvl="1" indent="-342900"/>
            <a:r>
              <a:rPr lang="en-US" sz="2200" dirty="0"/>
              <a:t>No dataset for a specific language (</a:t>
            </a:r>
            <a:r>
              <a:rPr lang="en-US" sz="2200" dirty="0" err="1"/>
              <a:t>e.g</a:t>
            </a:r>
            <a:r>
              <a:rPr lang="en-US" sz="2200" dirty="0"/>
              <a:t> Python)</a:t>
            </a:r>
          </a:p>
          <a:p>
            <a:pPr marL="1028700" lvl="1" indent="-342900"/>
            <a:r>
              <a:rPr lang="en-US" sz="2200" i="1" dirty="0"/>
              <a:t>Contamination: </a:t>
            </a:r>
            <a:r>
              <a:rPr lang="en-US" sz="2200" dirty="0"/>
              <a:t>Pre-2021 dataset in pre-training datasets of LLMs</a:t>
            </a:r>
          </a:p>
          <a:p>
            <a:pPr marL="342900" indent="-342900">
              <a:buFont typeface="Arial" panose="020B0604020202020204" pitchFamily="34" charset="0"/>
              <a:buChar char="•"/>
            </a:pPr>
            <a:r>
              <a:rPr lang="en-US" sz="2400" b="1" dirty="0"/>
              <a:t>Evaluate on multiple axis's: </a:t>
            </a:r>
            <a:r>
              <a:rPr lang="en-US" sz="2400" dirty="0"/>
              <a:t>Consistency, Diversity, Quality, ….</a:t>
            </a:r>
            <a:endParaRPr lang="en-US" sz="2400" b="1" dirty="0"/>
          </a:p>
          <a:p>
            <a:pPr marL="342900" indent="-342900">
              <a:buFont typeface="Arial" panose="020B0604020202020204" pitchFamily="34" charset="0"/>
              <a:buChar char="•"/>
            </a:pPr>
            <a:r>
              <a:rPr lang="en-US" sz="2400" b="1" dirty="0"/>
              <a:t>Evaluate reasoning of LLM: </a:t>
            </a:r>
            <a:r>
              <a:rPr lang="en-US" sz="2400" dirty="0"/>
              <a:t>Automated way to evaluate LLM’s reasoning for vulnerability detection</a:t>
            </a:r>
          </a:p>
        </p:txBody>
      </p:sp>
      <p:sp>
        <p:nvSpPr>
          <p:cNvPr id="4" name="Text Placeholder 3">
            <a:extLst>
              <a:ext uri="{FF2B5EF4-FFF2-40B4-BE49-F238E27FC236}">
                <a16:creationId xmlns:a16="http://schemas.microsoft.com/office/drawing/2014/main" id="{738DE505-9B26-BCAA-28CC-FA4F85339C8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EEDE9CB-3B43-D263-B3D8-73E381CE73CF}"/>
              </a:ext>
            </a:extLst>
          </p:cNvPr>
          <p:cNvSpPr>
            <a:spLocks noGrp="1"/>
          </p:cNvSpPr>
          <p:nvPr>
            <p:ph type="sldNum" sz="quarter" idx="17"/>
          </p:nvPr>
        </p:nvSpPr>
        <p:spPr/>
        <p:txBody>
          <a:bodyPr/>
          <a:lstStyle/>
          <a:p>
            <a:fld id="{86134D44-37F0-44A1-8A08-E9432A030C07}" type="slidenum">
              <a:rPr lang="en-US" smtClean="0"/>
              <a:pPr/>
              <a:t>6</a:t>
            </a:fld>
            <a:endParaRPr lang="en-US"/>
          </a:p>
        </p:txBody>
      </p:sp>
    </p:spTree>
    <p:extLst>
      <p:ext uri="{BB962C8B-B14F-4D97-AF65-F5344CB8AC3E}">
        <p14:creationId xmlns:p14="http://schemas.microsoft.com/office/powerpoint/2010/main" val="102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6A5A-EB4A-0A22-DCFE-0D450A0905B9}"/>
              </a:ext>
            </a:extLst>
          </p:cNvPr>
          <p:cNvSpPr>
            <a:spLocks noGrp="1"/>
          </p:cNvSpPr>
          <p:nvPr>
            <p:ph type="title"/>
          </p:nvPr>
        </p:nvSpPr>
        <p:spPr/>
        <p:txBody>
          <a:bodyPr/>
          <a:lstStyle/>
          <a:p>
            <a:r>
              <a:rPr lang="en-US" dirty="0"/>
              <a:t>Framework Overview</a:t>
            </a:r>
          </a:p>
        </p:txBody>
      </p:sp>
      <p:sp>
        <p:nvSpPr>
          <p:cNvPr id="3" name="Text Placeholder 2">
            <a:extLst>
              <a:ext uri="{FF2B5EF4-FFF2-40B4-BE49-F238E27FC236}">
                <a16:creationId xmlns:a16="http://schemas.microsoft.com/office/drawing/2014/main" id="{08BCB508-9E15-6A1B-7858-D978FB40DDF4}"/>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dirty="0"/>
              <a:t>Applicable to any chat-based LLM</a:t>
            </a:r>
          </a:p>
          <a:p>
            <a:pPr marL="342900" indent="-342900">
              <a:buFont typeface="Arial" panose="020B0604020202020204" pitchFamily="34" charset="0"/>
              <a:buChar char="•"/>
            </a:pPr>
            <a:r>
              <a:rPr lang="en-US" sz="2400" dirty="0"/>
              <a:t>Analyze the performance </a:t>
            </a:r>
          </a:p>
          <a:p>
            <a:pPr marL="1028700" lvl="1" indent="-342900"/>
            <a:r>
              <a:rPr lang="en-US" sz="2200" dirty="0"/>
              <a:t>Dataset</a:t>
            </a:r>
          </a:p>
          <a:p>
            <a:pPr marL="1485900" lvl="2" indent="-342900"/>
            <a:r>
              <a:rPr lang="en-US" sz="2200" dirty="0"/>
              <a:t>Prompt templates</a:t>
            </a:r>
          </a:p>
          <a:p>
            <a:pPr marL="1485900" lvl="2" indent="-342900"/>
            <a:r>
              <a:rPr lang="en-US" sz="2200" dirty="0"/>
              <a:t>Raw data</a:t>
            </a:r>
          </a:p>
          <a:p>
            <a:pPr marL="1485900" lvl="2" indent="-342900"/>
            <a:r>
              <a:rPr lang="en-US" sz="2200" dirty="0"/>
              <a:t>Augmentations</a:t>
            </a:r>
          </a:p>
          <a:p>
            <a:pPr marL="1028700" lvl="1" indent="-342900"/>
            <a:r>
              <a:rPr lang="en-US" dirty="0"/>
              <a:t>LLM Parameters</a:t>
            </a:r>
          </a:p>
          <a:p>
            <a:pPr marL="1485900" lvl="2" indent="-342900"/>
            <a:r>
              <a:rPr lang="en-US" sz="2200" dirty="0"/>
              <a:t>Integration of any chat-based LLM</a:t>
            </a:r>
          </a:p>
          <a:p>
            <a:pPr marL="1485900" lvl="2" indent="-342900"/>
            <a:r>
              <a:rPr lang="en-US" sz="2200" dirty="0" err="1"/>
              <a:t>Hyperparams</a:t>
            </a:r>
            <a:endParaRPr lang="en-US" sz="2200" dirty="0"/>
          </a:p>
          <a:p>
            <a:pPr marL="1028700" lvl="1" indent="-342900"/>
            <a:r>
              <a:rPr lang="en-US" sz="2200" dirty="0"/>
              <a:t>Evaluation</a:t>
            </a:r>
          </a:p>
          <a:p>
            <a:pPr marL="1028700" lvl="1" indent="-342900"/>
            <a:endParaRPr lang="en-US" sz="2800" dirty="0"/>
          </a:p>
          <a:p>
            <a:pPr marL="1485900" lvl="2" indent="-342900"/>
            <a:endParaRPr lang="en-US" sz="2400" dirty="0"/>
          </a:p>
          <a:p>
            <a:pPr marL="1485900" lvl="2" indent="-342900"/>
            <a:endParaRPr lang="en-US" sz="2400" dirty="0"/>
          </a:p>
          <a:p>
            <a:pPr marL="1028700" lvl="1" indent="-342900"/>
            <a:endParaRPr lang="en-US" sz="2800" dirty="0"/>
          </a:p>
        </p:txBody>
      </p:sp>
      <p:sp>
        <p:nvSpPr>
          <p:cNvPr id="4" name="Text Placeholder 3">
            <a:extLst>
              <a:ext uri="{FF2B5EF4-FFF2-40B4-BE49-F238E27FC236}">
                <a16:creationId xmlns:a16="http://schemas.microsoft.com/office/drawing/2014/main" id="{5E9EB66F-94C1-FDA0-EDAC-FCEFAD19444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09B42B4-A009-0FC8-567E-388C5B440AD7}"/>
              </a:ext>
            </a:extLst>
          </p:cNvPr>
          <p:cNvSpPr>
            <a:spLocks noGrp="1"/>
          </p:cNvSpPr>
          <p:nvPr>
            <p:ph type="sldNum" sz="quarter" idx="17"/>
          </p:nvPr>
        </p:nvSpPr>
        <p:spPr/>
        <p:txBody>
          <a:bodyPr/>
          <a:lstStyle/>
          <a:p>
            <a:fld id="{86134D44-37F0-44A1-8A08-E9432A030C07}" type="slidenum">
              <a:rPr lang="en-US" smtClean="0"/>
              <a:pPr/>
              <a:t>7</a:t>
            </a:fld>
            <a:endParaRPr lang="en-US"/>
          </a:p>
        </p:txBody>
      </p:sp>
      <p:pic>
        <p:nvPicPr>
          <p:cNvPr id="6" name="Picture 5">
            <a:extLst>
              <a:ext uri="{FF2B5EF4-FFF2-40B4-BE49-F238E27FC236}">
                <a16:creationId xmlns:a16="http://schemas.microsoft.com/office/drawing/2014/main" id="{76D2F733-BECC-864F-F6FB-5A2CB237D51A}"/>
              </a:ext>
            </a:extLst>
          </p:cNvPr>
          <p:cNvPicPr>
            <a:picLocks noChangeAspect="1"/>
          </p:cNvPicPr>
          <p:nvPr/>
        </p:nvPicPr>
        <p:blipFill>
          <a:blip r:embed="rId2"/>
          <a:stretch>
            <a:fillRect/>
          </a:stretch>
        </p:blipFill>
        <p:spPr>
          <a:xfrm>
            <a:off x="6549363" y="1825346"/>
            <a:ext cx="5400071" cy="3374153"/>
          </a:xfrm>
          <a:prstGeom prst="rect">
            <a:avLst/>
          </a:prstGeom>
        </p:spPr>
      </p:pic>
    </p:spTree>
    <p:extLst>
      <p:ext uri="{BB962C8B-B14F-4D97-AF65-F5344CB8AC3E}">
        <p14:creationId xmlns:p14="http://schemas.microsoft.com/office/powerpoint/2010/main" val="294211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B182C-24E6-424E-E9DD-3E5CF9A380DB}"/>
              </a:ext>
            </a:extLst>
          </p:cNvPr>
          <p:cNvSpPr>
            <a:spLocks noGrp="1"/>
          </p:cNvSpPr>
          <p:nvPr>
            <p:ph type="title"/>
          </p:nvPr>
        </p:nvSpPr>
        <p:spPr/>
        <p:txBody>
          <a:bodyPr/>
          <a:lstStyle/>
          <a:p>
            <a:r>
              <a:rPr lang="en-US" dirty="0"/>
              <a:t>LLM Parameters</a:t>
            </a:r>
          </a:p>
        </p:txBody>
      </p:sp>
      <p:sp>
        <p:nvSpPr>
          <p:cNvPr id="3" name="Text Placeholder 2">
            <a:extLst>
              <a:ext uri="{FF2B5EF4-FFF2-40B4-BE49-F238E27FC236}">
                <a16:creationId xmlns:a16="http://schemas.microsoft.com/office/drawing/2014/main" id="{1016E881-564E-AD87-7C56-C92E4B9915A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dirty="0"/>
              <a:t>Integration of “Any chat-based” LLM</a:t>
            </a:r>
            <a:endParaRPr lang="en-US" sz="2400" b="1" dirty="0"/>
          </a:p>
          <a:p>
            <a:pPr marL="342900" indent="-342900">
              <a:buFont typeface="Arial" panose="020B0604020202020204" pitchFamily="34" charset="0"/>
              <a:buChar char="•"/>
            </a:pPr>
            <a:r>
              <a:rPr lang="en-US" sz="2400" b="1" dirty="0"/>
              <a:t>LLM-Specific Prompting Practice:</a:t>
            </a:r>
          </a:p>
          <a:p>
            <a:pPr marL="1028700" lvl="1" indent="-342900"/>
            <a:r>
              <a:rPr lang="en-US" dirty="0"/>
              <a:t>Look up documentation on LLM</a:t>
            </a:r>
          </a:p>
          <a:p>
            <a:pPr marL="1028700" lvl="1" indent="-342900"/>
            <a:r>
              <a:rPr lang="en-US" dirty="0"/>
              <a:t>Pick documentation-relevant best practices on a per-LLM basis</a:t>
            </a:r>
          </a:p>
          <a:p>
            <a:pPr marL="1028700" lvl="1" indent="-342900"/>
            <a:endParaRPr lang="en-US" sz="2800" b="1" dirty="0"/>
          </a:p>
          <a:p>
            <a:pPr marL="1028700" lvl="1" indent="-342900"/>
            <a:endParaRPr lang="en-US" sz="2800" b="1" dirty="0"/>
          </a:p>
        </p:txBody>
      </p:sp>
      <p:sp>
        <p:nvSpPr>
          <p:cNvPr id="4" name="Text Placeholder 3">
            <a:extLst>
              <a:ext uri="{FF2B5EF4-FFF2-40B4-BE49-F238E27FC236}">
                <a16:creationId xmlns:a16="http://schemas.microsoft.com/office/drawing/2014/main" id="{A5E4270A-6875-10D8-C205-ABE34AB5A79C}"/>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09717E7-93A6-4973-BBC7-86369A8B24FD}"/>
              </a:ext>
            </a:extLst>
          </p:cNvPr>
          <p:cNvSpPr>
            <a:spLocks noGrp="1"/>
          </p:cNvSpPr>
          <p:nvPr>
            <p:ph type="sldNum" sz="quarter" idx="17"/>
          </p:nvPr>
        </p:nvSpPr>
        <p:spPr/>
        <p:txBody>
          <a:bodyPr/>
          <a:lstStyle/>
          <a:p>
            <a:fld id="{86134D44-37F0-44A1-8A08-E9432A030C07}" type="slidenum">
              <a:rPr lang="en-US" smtClean="0"/>
              <a:pPr/>
              <a:t>8</a:t>
            </a:fld>
            <a:endParaRPr lang="en-US"/>
          </a:p>
        </p:txBody>
      </p:sp>
      <p:pic>
        <p:nvPicPr>
          <p:cNvPr id="6" name="Picture 5">
            <a:extLst>
              <a:ext uri="{FF2B5EF4-FFF2-40B4-BE49-F238E27FC236}">
                <a16:creationId xmlns:a16="http://schemas.microsoft.com/office/drawing/2014/main" id="{73556CE6-A882-38DC-D062-2126EEDF1067}"/>
              </a:ext>
            </a:extLst>
          </p:cNvPr>
          <p:cNvPicPr>
            <a:picLocks noChangeAspect="1"/>
          </p:cNvPicPr>
          <p:nvPr/>
        </p:nvPicPr>
        <p:blipFill>
          <a:blip r:embed="rId2"/>
          <a:stretch>
            <a:fillRect/>
          </a:stretch>
        </p:blipFill>
        <p:spPr>
          <a:xfrm>
            <a:off x="2622817" y="3633272"/>
            <a:ext cx="6429481" cy="2248216"/>
          </a:xfrm>
          <a:prstGeom prst="rect">
            <a:avLst/>
          </a:prstGeom>
        </p:spPr>
      </p:pic>
    </p:spTree>
    <p:extLst>
      <p:ext uri="{BB962C8B-B14F-4D97-AF65-F5344CB8AC3E}">
        <p14:creationId xmlns:p14="http://schemas.microsoft.com/office/powerpoint/2010/main" val="3042791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BDC6-3967-498D-3E06-EA8E4659A76A}"/>
              </a:ext>
            </a:extLst>
          </p:cNvPr>
          <p:cNvSpPr>
            <a:spLocks noGrp="1"/>
          </p:cNvSpPr>
          <p:nvPr>
            <p:ph type="title"/>
          </p:nvPr>
        </p:nvSpPr>
        <p:spPr/>
        <p:txBody>
          <a:bodyPr/>
          <a:lstStyle/>
          <a:p>
            <a:r>
              <a:rPr lang="en-US" dirty="0"/>
              <a:t>LLM Parameters </a:t>
            </a:r>
            <a:r>
              <a:rPr lang="en-US" dirty="0" err="1"/>
              <a:t>Cont</a:t>
            </a:r>
            <a:r>
              <a:rPr lang="en-US" dirty="0"/>
              <a:t>…</a:t>
            </a:r>
          </a:p>
        </p:txBody>
      </p:sp>
      <p:sp>
        <p:nvSpPr>
          <p:cNvPr id="3" name="Text Placeholder 2">
            <a:extLst>
              <a:ext uri="{FF2B5EF4-FFF2-40B4-BE49-F238E27FC236}">
                <a16:creationId xmlns:a16="http://schemas.microsoft.com/office/drawing/2014/main" id="{57E1387B-781C-1A4D-4A15-9D5260CE7B47}"/>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Backend:</a:t>
            </a:r>
          </a:p>
          <a:p>
            <a:pPr marL="1028700" lvl="1" indent="-342900"/>
            <a:r>
              <a:rPr lang="en-US" sz="2200" dirty="0"/>
              <a:t>Local: load the model weights in memory and then query the model</a:t>
            </a:r>
          </a:p>
          <a:p>
            <a:pPr marL="1028700" lvl="1" indent="-342900"/>
            <a:r>
              <a:rPr lang="en-US" sz="2200" dirty="0"/>
              <a:t>API: query the model using a service provider (OpenAI, Google etc.)</a:t>
            </a:r>
          </a:p>
          <a:p>
            <a:pPr marL="342900" indent="-342900">
              <a:buFont typeface="Arial" panose="020B0604020202020204" pitchFamily="34" charset="0"/>
              <a:buChar char="•"/>
            </a:pPr>
            <a:r>
              <a:rPr lang="en-US" sz="2400" b="1" dirty="0"/>
              <a:t>LLM ‘Chat Structure and Inference Function’:</a:t>
            </a:r>
          </a:p>
          <a:p>
            <a:pPr marL="1028700" lvl="1" indent="-342900"/>
            <a:r>
              <a:rPr lang="en-US" sz="2200" dirty="0"/>
              <a:t>System Prompt + Task + Few-Shot examples</a:t>
            </a:r>
          </a:p>
          <a:p>
            <a:pPr marL="1028700" lvl="1" indent="-342900"/>
            <a:r>
              <a:rPr lang="en-US" sz="2200" dirty="0"/>
              <a:t>Plug-and-play with each component</a:t>
            </a:r>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7E1E1918-820E-2CC4-57BF-7D5D8CD71C0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6914371-3BF1-0AC1-4BA1-2156B7BC1CF7}"/>
              </a:ext>
            </a:extLst>
          </p:cNvPr>
          <p:cNvSpPr>
            <a:spLocks noGrp="1"/>
          </p:cNvSpPr>
          <p:nvPr>
            <p:ph type="sldNum" sz="quarter" idx="17"/>
          </p:nvPr>
        </p:nvSpPr>
        <p:spPr/>
        <p:txBody>
          <a:bodyPr/>
          <a:lstStyle/>
          <a:p>
            <a:fld id="{86134D44-37F0-44A1-8A08-E9432A030C07}" type="slidenum">
              <a:rPr lang="en-US" smtClean="0"/>
              <a:pPr/>
              <a:t>9</a:t>
            </a:fld>
            <a:endParaRPr lang="en-US"/>
          </a:p>
        </p:txBody>
      </p:sp>
    </p:spTree>
    <p:extLst>
      <p:ext uri="{BB962C8B-B14F-4D97-AF65-F5344CB8AC3E}">
        <p14:creationId xmlns:p14="http://schemas.microsoft.com/office/powerpoint/2010/main" val="597424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A6AB-2626-752A-D36E-7C6CEADCA395}"/>
              </a:ext>
            </a:extLst>
          </p:cNvPr>
          <p:cNvSpPr>
            <a:spLocks noGrp="1"/>
          </p:cNvSpPr>
          <p:nvPr>
            <p:ph type="title"/>
          </p:nvPr>
        </p:nvSpPr>
        <p:spPr/>
        <p:txBody>
          <a:bodyPr/>
          <a:lstStyle/>
          <a:p>
            <a:r>
              <a:rPr lang="en-US" dirty="0"/>
              <a:t>LLM Parameters </a:t>
            </a:r>
            <a:r>
              <a:rPr lang="en-US" dirty="0" err="1"/>
              <a:t>Cont</a:t>
            </a:r>
            <a:r>
              <a:rPr lang="en-US" dirty="0"/>
              <a:t>…</a:t>
            </a:r>
          </a:p>
        </p:txBody>
      </p:sp>
      <p:sp>
        <p:nvSpPr>
          <p:cNvPr id="3" name="Text Placeholder 2">
            <a:extLst>
              <a:ext uri="{FF2B5EF4-FFF2-40B4-BE49-F238E27FC236}">
                <a16:creationId xmlns:a16="http://schemas.microsoft.com/office/drawing/2014/main" id="{6AB60B43-0181-6CDC-1807-8ECF6E01494D}"/>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Temperature: </a:t>
            </a:r>
          </a:p>
          <a:p>
            <a:pPr marL="1028700" lvl="1" indent="-342900"/>
            <a:r>
              <a:rPr lang="en-US" dirty="0"/>
              <a:t>Logits: last layer representation of the token</a:t>
            </a:r>
          </a:p>
          <a:p>
            <a:pPr marL="1028700" lvl="1" indent="-342900"/>
            <a:r>
              <a:rPr lang="en-US" dirty="0"/>
              <a:t>Standard way: </a:t>
            </a:r>
          </a:p>
          <a:p>
            <a:pPr marL="1485900" lvl="2" indent="-342900"/>
            <a:r>
              <a:rPr lang="en-US" sz="2200" dirty="0"/>
              <a:t>Logits -&gt; </a:t>
            </a:r>
            <a:r>
              <a:rPr lang="en-US" sz="2200" dirty="0" err="1"/>
              <a:t>softmax</a:t>
            </a:r>
            <a:r>
              <a:rPr lang="en-US" sz="2200" dirty="0"/>
              <a:t> -&gt; probabilities </a:t>
            </a:r>
          </a:p>
          <a:p>
            <a:pPr marL="1028700" lvl="1" indent="-342900"/>
            <a:r>
              <a:rPr lang="en-US" dirty="0"/>
              <a:t>Temperature-based </a:t>
            </a:r>
          </a:p>
          <a:p>
            <a:pPr marL="1485900" lvl="2" indent="-342900"/>
            <a:r>
              <a:rPr lang="en-US" sz="2200" dirty="0"/>
              <a:t>Logits</a:t>
            </a:r>
            <a:r>
              <a:rPr lang="en-US" sz="2200" b="1" dirty="0"/>
              <a:t> -&gt; dividing each logit by T -&gt; </a:t>
            </a:r>
            <a:r>
              <a:rPr lang="en-US" sz="2200" dirty="0" err="1"/>
              <a:t>softmax</a:t>
            </a:r>
            <a:r>
              <a:rPr lang="en-US" sz="2200" dirty="0"/>
              <a:t> -&gt; probabilities </a:t>
            </a:r>
            <a:br>
              <a:rPr lang="en-US" sz="2200" dirty="0"/>
            </a:br>
            <a:endParaRPr lang="en-US" sz="2200" b="1" dirty="0"/>
          </a:p>
          <a:p>
            <a:pPr marL="342900" indent="-342900">
              <a:buFont typeface="Arial" panose="020B0604020202020204" pitchFamily="34" charset="0"/>
              <a:buChar char="•"/>
            </a:pPr>
            <a:r>
              <a:rPr lang="en-US" sz="2400" b="1" dirty="0"/>
              <a:t>Low T: </a:t>
            </a:r>
            <a:r>
              <a:rPr lang="en-US" sz="2400" dirty="0"/>
              <a:t>More uniform distribution</a:t>
            </a:r>
          </a:p>
          <a:p>
            <a:pPr marL="342900" indent="-342900">
              <a:buFont typeface="Arial" panose="020B0604020202020204" pitchFamily="34" charset="0"/>
              <a:buChar char="•"/>
            </a:pPr>
            <a:r>
              <a:rPr lang="en-US" sz="2400" b="1" dirty="0"/>
              <a:t>High T: </a:t>
            </a:r>
            <a:r>
              <a:rPr lang="en-US" sz="2400" dirty="0"/>
              <a:t>Makes the distribution more sharp</a:t>
            </a:r>
          </a:p>
        </p:txBody>
      </p:sp>
      <p:sp>
        <p:nvSpPr>
          <p:cNvPr id="4" name="Text Placeholder 3">
            <a:extLst>
              <a:ext uri="{FF2B5EF4-FFF2-40B4-BE49-F238E27FC236}">
                <a16:creationId xmlns:a16="http://schemas.microsoft.com/office/drawing/2014/main" id="{71AC5ACC-E16D-EAFD-3372-D12339EC0E7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DB02FF5-892C-71A1-5604-8B6AACABE55D}"/>
              </a:ext>
            </a:extLst>
          </p:cNvPr>
          <p:cNvSpPr>
            <a:spLocks noGrp="1"/>
          </p:cNvSpPr>
          <p:nvPr>
            <p:ph type="sldNum" sz="quarter" idx="17"/>
          </p:nvPr>
        </p:nvSpPr>
        <p:spPr/>
        <p:txBody>
          <a:bodyPr/>
          <a:lstStyle/>
          <a:p>
            <a:fld id="{86134D44-37F0-44A1-8A08-E9432A030C07}" type="slidenum">
              <a:rPr lang="en-US" smtClean="0"/>
              <a:pPr/>
              <a:t>10</a:t>
            </a:fld>
            <a:endParaRPr lang="en-US"/>
          </a:p>
        </p:txBody>
      </p:sp>
      <p:pic>
        <p:nvPicPr>
          <p:cNvPr id="1026" name="Picture 2">
            <a:extLst>
              <a:ext uri="{FF2B5EF4-FFF2-40B4-BE49-F238E27FC236}">
                <a16:creationId xmlns:a16="http://schemas.microsoft.com/office/drawing/2014/main" id="{BB9A3C61-D81C-9140-99AE-1BFA5129F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5071" y="2215680"/>
            <a:ext cx="2527582" cy="1326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16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C9D8-836A-B4E3-E556-98757C537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BF8D1-3A7D-F662-D59F-4DAE75713E03}"/>
              </a:ext>
            </a:extLst>
          </p:cNvPr>
          <p:cNvSpPr>
            <a:spLocks noGrp="1"/>
          </p:cNvSpPr>
          <p:nvPr>
            <p:ph type="title"/>
          </p:nvPr>
        </p:nvSpPr>
        <p:spPr/>
        <p:txBody>
          <a:bodyPr/>
          <a:lstStyle/>
          <a:p>
            <a:r>
              <a:rPr lang="en-US" dirty="0"/>
              <a:t>LLM Parameters </a:t>
            </a:r>
            <a:r>
              <a:rPr lang="en-US" dirty="0" err="1"/>
              <a:t>Cont</a:t>
            </a:r>
            <a:r>
              <a:rPr lang="en-US" dirty="0"/>
              <a:t>…</a:t>
            </a:r>
          </a:p>
        </p:txBody>
      </p:sp>
      <p:sp>
        <p:nvSpPr>
          <p:cNvPr id="3" name="Text Placeholder 2">
            <a:extLst>
              <a:ext uri="{FF2B5EF4-FFF2-40B4-BE49-F238E27FC236}">
                <a16:creationId xmlns:a16="http://schemas.microsoft.com/office/drawing/2014/main" id="{89D0F06A-F4C9-8D37-B1A4-85460BD76D07}"/>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err="1"/>
              <a:t>Top_p</a:t>
            </a:r>
            <a:r>
              <a:rPr lang="en-US" sz="2400" b="1" dirty="0"/>
              <a:t> (or nucleus sampling):</a:t>
            </a:r>
          </a:p>
          <a:p>
            <a:pPr marL="1028700" lvl="1" indent="-342900"/>
            <a:r>
              <a:rPr lang="en-US" sz="2200" dirty="0"/>
              <a:t>Sample only from the </a:t>
            </a:r>
            <a:r>
              <a:rPr lang="en-US" sz="2200" b="1" dirty="0"/>
              <a:t>smallest set of tokens (nucleus)</a:t>
            </a:r>
            <a:r>
              <a:rPr lang="en-US" sz="2200" dirty="0"/>
              <a:t> whose cumulative probability</a:t>
            </a:r>
            <a:r>
              <a:rPr lang="en-US" sz="2200" b="1" dirty="0"/>
              <a:t> </a:t>
            </a:r>
            <a:r>
              <a:rPr lang="en-US" sz="2200" dirty="0"/>
              <a:t>exceeds p</a:t>
            </a:r>
            <a:endParaRPr lang="en-US" sz="2200" b="1" dirty="0"/>
          </a:p>
          <a:p>
            <a:pPr marL="1028700" lvl="1" indent="-342900"/>
            <a:r>
              <a:rPr lang="en-US" sz="2200" b="1" dirty="0"/>
              <a:t>Algorithm:</a:t>
            </a:r>
          </a:p>
          <a:p>
            <a:pPr marL="1485900" lvl="2" indent="-342900"/>
            <a:r>
              <a:rPr lang="en-US" dirty="0"/>
              <a:t>Sort the tokens by decreasing probability</a:t>
            </a:r>
          </a:p>
          <a:p>
            <a:pPr marL="1485900" lvl="2" indent="-342900"/>
            <a:r>
              <a:rPr lang="en-US" dirty="0"/>
              <a:t>Compute the the cumulative probability</a:t>
            </a:r>
          </a:p>
          <a:p>
            <a:pPr marL="1485900" lvl="2" indent="-342900"/>
            <a:r>
              <a:rPr lang="en-US" dirty="0"/>
              <a:t>Find the smallest set of tokens  such that their probabilities &gt; p</a:t>
            </a:r>
          </a:p>
          <a:p>
            <a:pPr marL="1485900" lvl="2" indent="-342900"/>
            <a:r>
              <a:rPr lang="en-US" dirty="0"/>
              <a:t>Renormalize the probability distribution, and then sample</a:t>
            </a:r>
          </a:p>
          <a:p>
            <a:pPr marL="342900" indent="-342900">
              <a:buFont typeface="Arial" panose="020B0604020202020204" pitchFamily="34" charset="0"/>
              <a:buChar char="•"/>
            </a:pPr>
            <a:r>
              <a:rPr lang="en-US" sz="2400" b="1" dirty="0"/>
              <a:t>Low p: </a:t>
            </a:r>
            <a:r>
              <a:rPr lang="en-US" sz="2400" dirty="0"/>
              <a:t>only sampling from highest probability tokens -&gt; more safe</a:t>
            </a:r>
          </a:p>
          <a:p>
            <a:pPr marL="342900" indent="-342900">
              <a:buFont typeface="Arial" panose="020B0604020202020204" pitchFamily="34" charset="0"/>
              <a:buChar char="•"/>
            </a:pPr>
            <a:r>
              <a:rPr lang="en-US" sz="2400" b="1" dirty="0"/>
              <a:t>High p: </a:t>
            </a:r>
            <a:r>
              <a:rPr lang="en-US" sz="2400" dirty="0"/>
              <a:t>more diverse, riskier responses</a:t>
            </a:r>
          </a:p>
          <a:p>
            <a:pPr marL="1028700" lvl="1" indent="-342900"/>
            <a:endParaRPr lang="en-US" dirty="0"/>
          </a:p>
        </p:txBody>
      </p:sp>
      <p:sp>
        <p:nvSpPr>
          <p:cNvPr id="4" name="Text Placeholder 3">
            <a:extLst>
              <a:ext uri="{FF2B5EF4-FFF2-40B4-BE49-F238E27FC236}">
                <a16:creationId xmlns:a16="http://schemas.microsoft.com/office/drawing/2014/main" id="{D2911A92-DE36-1510-3ED1-D5DA11C0BB5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4969520F-F816-1293-8371-484D83DE5305}"/>
              </a:ext>
            </a:extLst>
          </p:cNvPr>
          <p:cNvSpPr>
            <a:spLocks noGrp="1"/>
          </p:cNvSpPr>
          <p:nvPr>
            <p:ph type="sldNum" sz="quarter" idx="17"/>
          </p:nvPr>
        </p:nvSpPr>
        <p:spPr/>
        <p:txBody>
          <a:bodyPr/>
          <a:lstStyle/>
          <a:p>
            <a:fld id="{86134D44-37F0-44A1-8A08-E9432A030C07}" type="slidenum">
              <a:rPr lang="en-US" smtClean="0"/>
              <a:pPr/>
              <a:t>11</a:t>
            </a:fld>
            <a:endParaRPr lang="en-US"/>
          </a:p>
        </p:txBody>
      </p:sp>
    </p:spTree>
    <p:extLst>
      <p:ext uri="{BB962C8B-B14F-4D97-AF65-F5344CB8AC3E}">
        <p14:creationId xmlns:p14="http://schemas.microsoft.com/office/powerpoint/2010/main" val="3697752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A989-8D61-8908-2D8D-57361C911C5A}"/>
              </a:ext>
            </a:extLst>
          </p:cNvPr>
          <p:cNvSpPr>
            <a:spLocks noGrp="1"/>
          </p:cNvSpPr>
          <p:nvPr>
            <p:ph type="title"/>
          </p:nvPr>
        </p:nvSpPr>
        <p:spPr/>
        <p:txBody>
          <a:bodyPr/>
          <a:lstStyle/>
          <a:p>
            <a:r>
              <a:rPr lang="en-US" dirty="0"/>
              <a:t>Prompt templates</a:t>
            </a:r>
          </a:p>
        </p:txBody>
      </p:sp>
      <p:sp>
        <p:nvSpPr>
          <p:cNvPr id="3" name="Text Placeholder 2">
            <a:extLst>
              <a:ext uri="{FF2B5EF4-FFF2-40B4-BE49-F238E27FC236}">
                <a16:creationId xmlns:a16="http://schemas.microsoft.com/office/drawing/2014/main" id="{F777AFFB-07C5-6F41-4092-3A967FFFEA43}"/>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Prompt Structure (S)</a:t>
            </a:r>
          </a:p>
          <a:p>
            <a:pPr marL="1028700" lvl="1" indent="-342900"/>
            <a:r>
              <a:rPr lang="en-US" i="1" dirty="0"/>
              <a:t>Standard:</a:t>
            </a:r>
            <a:r>
              <a:rPr lang="en-US" dirty="0"/>
              <a:t> Direct question about vulnerability presence </a:t>
            </a:r>
          </a:p>
          <a:p>
            <a:pPr marL="1028700" lvl="1" indent="-342900"/>
            <a:r>
              <a:rPr lang="en-US" i="1" dirty="0"/>
              <a:t>Step-by-step reasoning prompt: </a:t>
            </a:r>
            <a:r>
              <a:rPr lang="en-US" dirty="0"/>
              <a:t>Guides LLM through reasoning process</a:t>
            </a:r>
            <a:endParaRPr lang="en-US" i="1" dirty="0"/>
          </a:p>
          <a:p>
            <a:pPr marL="1028700" lvl="1" indent="-342900"/>
            <a:r>
              <a:rPr lang="en-US" i="1" dirty="0"/>
              <a:t>Definition-based: </a:t>
            </a:r>
            <a:r>
              <a:rPr lang="en-US" dirty="0"/>
              <a:t>Includes vulnerability definition in prompt</a:t>
            </a:r>
          </a:p>
          <a:p>
            <a:pPr lvl="1" indent="0">
              <a:buNone/>
            </a:pPr>
            <a:endParaRPr lang="en-US" dirty="0"/>
          </a:p>
          <a:p>
            <a:pPr marL="342900" indent="-342900">
              <a:buFont typeface="Arial" panose="020B0604020202020204" pitchFamily="34" charset="0"/>
              <a:buChar char="•"/>
            </a:pPr>
            <a:r>
              <a:rPr lang="en-US" sz="2400" b="1" dirty="0"/>
              <a:t>Interaction Framework (I):</a:t>
            </a:r>
          </a:p>
          <a:p>
            <a:pPr marL="1028700" lvl="1" indent="-342900"/>
            <a:r>
              <a:rPr lang="en-US" i="1" dirty="0"/>
              <a:t>Task-oriented: </a:t>
            </a:r>
            <a:r>
              <a:rPr lang="en-US" dirty="0"/>
              <a:t>Explicitly assigns detection task</a:t>
            </a:r>
          </a:p>
          <a:p>
            <a:pPr marL="1028700" lvl="1" indent="-342900"/>
            <a:r>
              <a:rPr lang="en-US" i="1" dirty="0"/>
              <a:t>Role-oriented: </a:t>
            </a:r>
            <a:r>
              <a:rPr lang="en-US" dirty="0"/>
              <a:t>Assigns security expert persona </a:t>
            </a:r>
          </a:p>
        </p:txBody>
      </p:sp>
      <p:sp>
        <p:nvSpPr>
          <p:cNvPr id="4" name="Text Placeholder 3">
            <a:extLst>
              <a:ext uri="{FF2B5EF4-FFF2-40B4-BE49-F238E27FC236}">
                <a16:creationId xmlns:a16="http://schemas.microsoft.com/office/drawing/2014/main" id="{27BFECCB-1990-7BDD-C3B6-A45E926DF41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DD33145-F142-0C15-FAC8-04728EA63AD2}"/>
              </a:ext>
            </a:extLst>
          </p:cNvPr>
          <p:cNvSpPr>
            <a:spLocks noGrp="1"/>
          </p:cNvSpPr>
          <p:nvPr>
            <p:ph type="sldNum" sz="quarter" idx="17"/>
          </p:nvPr>
        </p:nvSpPr>
        <p:spPr/>
        <p:txBody>
          <a:bodyPr/>
          <a:lstStyle/>
          <a:p>
            <a:fld id="{86134D44-37F0-44A1-8A08-E9432A030C07}" type="slidenum">
              <a:rPr lang="en-US" smtClean="0"/>
              <a:pPr/>
              <a:t>12</a:t>
            </a:fld>
            <a:endParaRPr lang="en-US"/>
          </a:p>
        </p:txBody>
      </p:sp>
    </p:spTree>
    <p:extLst>
      <p:ext uri="{BB962C8B-B14F-4D97-AF65-F5344CB8AC3E}">
        <p14:creationId xmlns:p14="http://schemas.microsoft.com/office/powerpoint/2010/main" val="3370624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52F87-E260-67CD-1499-F9BA2FBC6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94A88-2A70-C268-0334-E10F24EBB6DB}"/>
              </a:ext>
            </a:extLst>
          </p:cNvPr>
          <p:cNvSpPr>
            <a:spLocks noGrp="1"/>
          </p:cNvSpPr>
          <p:nvPr>
            <p:ph type="title"/>
          </p:nvPr>
        </p:nvSpPr>
        <p:spPr/>
        <p:txBody>
          <a:bodyPr/>
          <a:lstStyle/>
          <a:p>
            <a:r>
              <a:rPr lang="en-US" dirty="0"/>
              <a:t>Dataset </a:t>
            </a:r>
            <a:r>
              <a:rPr lang="en-US" dirty="0" err="1"/>
              <a:t>cont</a:t>
            </a:r>
            <a:r>
              <a:rPr lang="en-US" dirty="0"/>
              <a:t> …</a:t>
            </a:r>
          </a:p>
        </p:txBody>
      </p:sp>
      <p:sp>
        <p:nvSpPr>
          <p:cNvPr id="3" name="Text Placeholder 2">
            <a:extLst>
              <a:ext uri="{FF2B5EF4-FFF2-40B4-BE49-F238E27FC236}">
                <a16:creationId xmlns:a16="http://schemas.microsoft.com/office/drawing/2014/main" id="{E98D1EED-1295-818F-A568-F748FCDE1E7C}"/>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Prompting technique (T):</a:t>
            </a:r>
          </a:p>
          <a:p>
            <a:pPr marL="1028700" lvl="1" indent="-342900"/>
            <a:r>
              <a:rPr lang="en-US" i="1" dirty="0"/>
              <a:t>Zero-shot: </a:t>
            </a:r>
            <a:r>
              <a:rPr lang="en-US" dirty="0"/>
              <a:t>No examples in prompt</a:t>
            </a:r>
          </a:p>
          <a:p>
            <a:pPr marL="1028700" lvl="1" indent="-342900"/>
            <a:r>
              <a:rPr lang="en-US" i="1" dirty="0"/>
              <a:t>Few-shot: </a:t>
            </a:r>
            <a:r>
              <a:rPr lang="en-US" dirty="0"/>
              <a:t>Includes example </a:t>
            </a:r>
            <a:br>
              <a:rPr lang="en-US" dirty="0"/>
            </a:br>
            <a:r>
              <a:rPr lang="en-US" dirty="0"/>
              <a:t>vulnerability assessments </a:t>
            </a:r>
          </a:p>
          <a:p>
            <a:pPr marL="1485900" lvl="2" indent="-342900"/>
            <a:r>
              <a:rPr lang="en-US" dirty="0"/>
              <a:t>Leverages in-context learning</a:t>
            </a:r>
          </a:p>
          <a:p>
            <a:endParaRPr lang="en-US" dirty="0"/>
          </a:p>
          <a:p>
            <a:pPr marL="342900" indent="-342900">
              <a:buFont typeface="Arial" panose="020B0604020202020204" pitchFamily="34" charset="0"/>
              <a:buChar char="•"/>
            </a:pPr>
            <a:r>
              <a:rPr lang="en-US" sz="2400" dirty="0"/>
              <a:t>In total, 18 such templates</a:t>
            </a:r>
          </a:p>
        </p:txBody>
      </p:sp>
      <p:sp>
        <p:nvSpPr>
          <p:cNvPr id="4" name="Text Placeholder 3">
            <a:extLst>
              <a:ext uri="{FF2B5EF4-FFF2-40B4-BE49-F238E27FC236}">
                <a16:creationId xmlns:a16="http://schemas.microsoft.com/office/drawing/2014/main" id="{97489693-1A8E-076C-ACA5-52954075679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C3DF7CDF-8146-AF8F-27E8-5A6834429056}"/>
              </a:ext>
            </a:extLst>
          </p:cNvPr>
          <p:cNvSpPr>
            <a:spLocks noGrp="1"/>
          </p:cNvSpPr>
          <p:nvPr>
            <p:ph type="sldNum" sz="quarter" idx="17"/>
          </p:nvPr>
        </p:nvSpPr>
        <p:spPr/>
        <p:txBody>
          <a:bodyPr/>
          <a:lstStyle/>
          <a:p>
            <a:fld id="{86134D44-37F0-44A1-8A08-E9432A030C07}" type="slidenum">
              <a:rPr lang="en-US" smtClean="0"/>
              <a:pPr/>
              <a:t>13</a:t>
            </a:fld>
            <a:endParaRPr lang="en-US"/>
          </a:p>
        </p:txBody>
      </p:sp>
      <p:pic>
        <p:nvPicPr>
          <p:cNvPr id="6" name="Picture 5">
            <a:extLst>
              <a:ext uri="{FF2B5EF4-FFF2-40B4-BE49-F238E27FC236}">
                <a16:creationId xmlns:a16="http://schemas.microsoft.com/office/drawing/2014/main" id="{DAABBBEB-68B3-505B-BD17-828EF662A422}"/>
              </a:ext>
            </a:extLst>
          </p:cNvPr>
          <p:cNvPicPr>
            <a:picLocks noChangeAspect="1"/>
          </p:cNvPicPr>
          <p:nvPr/>
        </p:nvPicPr>
        <p:blipFill>
          <a:blip r:embed="rId3"/>
          <a:stretch>
            <a:fillRect/>
          </a:stretch>
        </p:blipFill>
        <p:spPr>
          <a:xfrm>
            <a:off x="6575502" y="941942"/>
            <a:ext cx="2662627" cy="4856443"/>
          </a:xfrm>
          <a:prstGeom prst="rect">
            <a:avLst/>
          </a:prstGeom>
        </p:spPr>
      </p:pic>
    </p:spTree>
    <p:extLst>
      <p:ext uri="{BB962C8B-B14F-4D97-AF65-F5344CB8AC3E}">
        <p14:creationId xmlns:p14="http://schemas.microsoft.com/office/powerpoint/2010/main" val="4098911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A854-0CFF-6471-A76C-946C7E115BC5}"/>
              </a:ext>
            </a:extLst>
          </p:cNvPr>
          <p:cNvSpPr>
            <a:spLocks noGrp="1"/>
          </p:cNvSpPr>
          <p:nvPr>
            <p:ph type="title"/>
          </p:nvPr>
        </p:nvSpPr>
        <p:spPr/>
        <p:txBody>
          <a:bodyPr/>
          <a:lstStyle/>
          <a:p>
            <a:r>
              <a:rPr lang="en-US" dirty="0"/>
              <a:t>Raw Dataset</a:t>
            </a:r>
          </a:p>
        </p:txBody>
      </p:sp>
      <p:sp>
        <p:nvSpPr>
          <p:cNvPr id="3" name="Text Placeholder 2">
            <a:extLst>
              <a:ext uri="{FF2B5EF4-FFF2-40B4-BE49-F238E27FC236}">
                <a16:creationId xmlns:a16="http://schemas.microsoft.com/office/drawing/2014/main" id="{E525CBA1-AB1A-FC3D-E82E-D8A3F1E0735E}"/>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Scenario that makes the LLM likely to generate vulnerable code</a:t>
            </a:r>
          </a:p>
          <a:p>
            <a:pPr marL="342900" indent="-342900">
              <a:buFont typeface="Arial" panose="020B0604020202020204" pitchFamily="34" charset="0"/>
              <a:buChar char="•"/>
            </a:pPr>
            <a:r>
              <a:rPr lang="en-US" sz="2400" dirty="0"/>
              <a:t>Hand-crafted </a:t>
            </a:r>
          </a:p>
          <a:p>
            <a:pPr marL="1028700" lvl="1" indent="-342900"/>
            <a:r>
              <a:rPr lang="en-US" sz="2200" dirty="0"/>
              <a:t>Craft scenarios based on CWE-definitions available on MITRE website</a:t>
            </a:r>
          </a:p>
          <a:p>
            <a:pPr marL="1028700" lvl="1" indent="-342900"/>
            <a:r>
              <a:rPr lang="en-US" sz="2200" dirty="0"/>
              <a:t>For each CWE, </a:t>
            </a:r>
          </a:p>
          <a:p>
            <a:pPr marL="1485900" lvl="2" indent="-342900"/>
            <a:r>
              <a:rPr lang="en-US" sz="2200" dirty="0"/>
              <a:t>3 vulnerable scenarios</a:t>
            </a:r>
          </a:p>
          <a:p>
            <a:pPr marL="1943100" lvl="3" indent="-342900"/>
            <a:r>
              <a:rPr lang="en-US" sz="2200" dirty="0"/>
              <a:t>Easy, medium, difficult</a:t>
            </a:r>
          </a:p>
          <a:p>
            <a:pPr marL="1485900" lvl="2" indent="-342900"/>
            <a:r>
              <a:rPr lang="en-US" sz="2200" dirty="0"/>
              <a:t>3 patched scenarios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2E55DC8-2DC0-21E3-C762-3AEA5788D84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AF3905D-22B7-B37B-B725-F8559211E635}"/>
              </a:ext>
            </a:extLst>
          </p:cNvPr>
          <p:cNvSpPr>
            <a:spLocks noGrp="1"/>
          </p:cNvSpPr>
          <p:nvPr>
            <p:ph type="sldNum" sz="quarter" idx="17"/>
          </p:nvPr>
        </p:nvSpPr>
        <p:spPr/>
        <p:txBody>
          <a:bodyPr/>
          <a:lstStyle/>
          <a:p>
            <a:fld id="{86134D44-37F0-44A1-8A08-E9432A030C07}" type="slidenum">
              <a:rPr lang="en-US" smtClean="0"/>
              <a:pPr/>
              <a:t>14</a:t>
            </a:fld>
            <a:endParaRPr lang="en-US"/>
          </a:p>
        </p:txBody>
      </p:sp>
      <p:pic>
        <p:nvPicPr>
          <p:cNvPr id="6" name="Picture 5">
            <a:extLst>
              <a:ext uri="{FF2B5EF4-FFF2-40B4-BE49-F238E27FC236}">
                <a16:creationId xmlns:a16="http://schemas.microsoft.com/office/drawing/2014/main" id="{FAE51F19-3960-3AB6-C245-9CFF9DCDD7E7}"/>
              </a:ext>
            </a:extLst>
          </p:cNvPr>
          <p:cNvPicPr>
            <a:picLocks noChangeAspect="1"/>
          </p:cNvPicPr>
          <p:nvPr/>
        </p:nvPicPr>
        <p:blipFill>
          <a:blip r:embed="rId2"/>
          <a:stretch>
            <a:fillRect/>
          </a:stretch>
        </p:blipFill>
        <p:spPr>
          <a:xfrm>
            <a:off x="6225988" y="3098380"/>
            <a:ext cx="5127812" cy="3147032"/>
          </a:xfrm>
          <a:prstGeom prst="rect">
            <a:avLst/>
          </a:prstGeom>
        </p:spPr>
      </p:pic>
    </p:spTree>
    <p:extLst>
      <p:ext uri="{BB962C8B-B14F-4D97-AF65-F5344CB8AC3E}">
        <p14:creationId xmlns:p14="http://schemas.microsoft.com/office/powerpoint/2010/main" val="3587201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E3CC-A0D2-D6EA-A643-740F11D5A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9E502-1A32-303E-C314-8586E2F3D843}"/>
              </a:ext>
            </a:extLst>
          </p:cNvPr>
          <p:cNvSpPr>
            <a:spLocks noGrp="1"/>
          </p:cNvSpPr>
          <p:nvPr>
            <p:ph type="title"/>
          </p:nvPr>
        </p:nvSpPr>
        <p:spPr/>
        <p:txBody>
          <a:bodyPr/>
          <a:lstStyle/>
          <a:p>
            <a:r>
              <a:rPr lang="en-US" dirty="0"/>
              <a:t>Raw Dataset</a:t>
            </a:r>
          </a:p>
        </p:txBody>
      </p:sp>
      <p:sp>
        <p:nvSpPr>
          <p:cNvPr id="3" name="Text Placeholder 2">
            <a:extLst>
              <a:ext uri="{FF2B5EF4-FFF2-40B4-BE49-F238E27FC236}">
                <a16:creationId xmlns:a16="http://schemas.microsoft.com/office/drawing/2014/main" id="{5FFBE1D1-CC36-8327-26BD-A180FA381A22}"/>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Scenario that makes the LLM likely to generate vulnerable code</a:t>
            </a:r>
          </a:p>
          <a:p>
            <a:pPr marL="342900" indent="-342900">
              <a:buFont typeface="Arial" panose="020B0604020202020204" pitchFamily="34" charset="0"/>
              <a:buChar char="•"/>
            </a:pPr>
            <a:r>
              <a:rPr lang="en-US" sz="2400" dirty="0"/>
              <a:t>Hand-crafted </a:t>
            </a:r>
          </a:p>
          <a:p>
            <a:pPr marL="1028700" lvl="1" indent="-342900"/>
            <a:r>
              <a:rPr lang="en-US" sz="2000" dirty="0"/>
              <a:t>Pick 8/25 top CWE’s on MITRE website</a:t>
            </a:r>
          </a:p>
          <a:p>
            <a:pPr marL="1028700" lvl="1" indent="-342900"/>
            <a:r>
              <a:rPr lang="en-US" sz="2000" dirty="0"/>
              <a:t>Craft scenarios based on CWE-definitions </a:t>
            </a:r>
            <a:br>
              <a:rPr lang="en-US" sz="2000" dirty="0"/>
            </a:br>
            <a:r>
              <a:rPr lang="en-US" sz="2000" dirty="0"/>
              <a:t>available on MITRE website</a:t>
            </a:r>
          </a:p>
          <a:p>
            <a:pPr marL="1028700" lvl="1" indent="-342900"/>
            <a:r>
              <a:rPr lang="en-US" sz="2000" dirty="0"/>
              <a:t>For each CWE, </a:t>
            </a:r>
          </a:p>
          <a:p>
            <a:pPr marL="1485900" lvl="2" indent="-342900"/>
            <a:r>
              <a:rPr lang="en-US" dirty="0"/>
              <a:t>3 vulnerable scenarios</a:t>
            </a:r>
          </a:p>
          <a:p>
            <a:pPr marL="1943100" lvl="3" indent="-342900"/>
            <a:r>
              <a:rPr lang="en-US" sz="2000" dirty="0"/>
              <a:t>Easy, medium, difficult</a:t>
            </a:r>
          </a:p>
          <a:p>
            <a:pPr marL="1485900" lvl="2" indent="-342900"/>
            <a:r>
              <a:rPr lang="en-US" dirty="0"/>
              <a:t>3 patched scenarios</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C088CA-AA92-0BC9-1848-452DAAE9C0C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CED0485-52B7-3C8C-C48F-DE4B5F6FDE54}"/>
              </a:ext>
            </a:extLst>
          </p:cNvPr>
          <p:cNvSpPr>
            <a:spLocks noGrp="1"/>
          </p:cNvSpPr>
          <p:nvPr>
            <p:ph type="sldNum" sz="quarter" idx="17"/>
          </p:nvPr>
        </p:nvSpPr>
        <p:spPr/>
        <p:txBody>
          <a:bodyPr/>
          <a:lstStyle/>
          <a:p>
            <a:fld id="{86134D44-37F0-44A1-8A08-E9432A030C07}" type="slidenum">
              <a:rPr lang="en-US" smtClean="0"/>
              <a:pPr/>
              <a:t>15</a:t>
            </a:fld>
            <a:endParaRPr lang="en-US"/>
          </a:p>
        </p:txBody>
      </p:sp>
      <p:pic>
        <p:nvPicPr>
          <p:cNvPr id="6" name="Picture 5">
            <a:extLst>
              <a:ext uri="{FF2B5EF4-FFF2-40B4-BE49-F238E27FC236}">
                <a16:creationId xmlns:a16="http://schemas.microsoft.com/office/drawing/2014/main" id="{276D1C24-9D47-9AE8-03CA-949FBF71CB57}"/>
              </a:ext>
            </a:extLst>
          </p:cNvPr>
          <p:cNvPicPr>
            <a:picLocks noChangeAspect="1"/>
          </p:cNvPicPr>
          <p:nvPr/>
        </p:nvPicPr>
        <p:blipFill>
          <a:blip r:embed="rId2"/>
          <a:stretch>
            <a:fillRect/>
          </a:stretch>
        </p:blipFill>
        <p:spPr>
          <a:xfrm>
            <a:off x="6355976" y="2275590"/>
            <a:ext cx="5691860" cy="3493198"/>
          </a:xfrm>
          <a:prstGeom prst="rect">
            <a:avLst/>
          </a:prstGeom>
        </p:spPr>
      </p:pic>
    </p:spTree>
    <p:extLst>
      <p:ext uri="{BB962C8B-B14F-4D97-AF65-F5344CB8AC3E}">
        <p14:creationId xmlns:p14="http://schemas.microsoft.com/office/powerpoint/2010/main" val="1198944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E297-0328-AE5C-2A38-0ABD8DCC5D3F}"/>
              </a:ext>
            </a:extLst>
          </p:cNvPr>
          <p:cNvSpPr>
            <a:spLocks noGrp="1"/>
          </p:cNvSpPr>
          <p:nvPr>
            <p:ph type="title"/>
          </p:nvPr>
        </p:nvSpPr>
        <p:spPr/>
        <p:txBody>
          <a:bodyPr/>
          <a:lstStyle/>
          <a:p>
            <a:r>
              <a:rPr lang="en-US" dirty="0"/>
              <a:t>Raw Dataset </a:t>
            </a:r>
            <a:r>
              <a:rPr lang="en-US" dirty="0" err="1"/>
              <a:t>contd</a:t>
            </a:r>
            <a:r>
              <a:rPr lang="en-US" dirty="0"/>
              <a:t> …</a:t>
            </a:r>
          </a:p>
        </p:txBody>
      </p:sp>
      <p:sp>
        <p:nvSpPr>
          <p:cNvPr id="3" name="Text Placeholder 2">
            <a:extLst>
              <a:ext uri="{FF2B5EF4-FFF2-40B4-BE49-F238E27FC236}">
                <a16:creationId xmlns:a16="http://schemas.microsoft.com/office/drawing/2014/main" id="{031DC91A-A45C-20B9-FA28-A7E5238BC5FF}"/>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Real-world coding scenarios</a:t>
            </a:r>
          </a:p>
          <a:p>
            <a:pPr marL="1028700" lvl="1" indent="-342900"/>
            <a:r>
              <a:rPr lang="en-US" dirty="0"/>
              <a:t>Collect from open – source projects (post – 2023)</a:t>
            </a:r>
          </a:p>
          <a:p>
            <a:pPr marL="1028700" lvl="1" indent="-342900"/>
            <a:r>
              <a:rPr lang="en-US" dirty="0"/>
              <a:t>Standard format of OSS datasets</a:t>
            </a:r>
          </a:p>
          <a:p>
            <a:pPr marL="1485900" lvl="2" indent="-342900"/>
            <a:r>
              <a:rPr lang="en-US" dirty="0"/>
              <a:t>Parent code</a:t>
            </a:r>
          </a:p>
          <a:p>
            <a:pPr marL="1485900" lvl="2" indent="-342900"/>
            <a:r>
              <a:rPr lang="en-US" dirty="0"/>
              <a:t>Vulnerable code lines</a:t>
            </a:r>
          </a:p>
          <a:p>
            <a:pPr marL="1028700" lvl="1" indent="-342900"/>
            <a:r>
              <a:rPr lang="en-US" dirty="0"/>
              <a:t>Design decisions:</a:t>
            </a:r>
          </a:p>
          <a:p>
            <a:pPr marL="1485900" lvl="2" indent="-342900"/>
            <a:r>
              <a:rPr lang="en-US" dirty="0"/>
              <a:t>Parent code is usually too large + Context window of LLMs is too small</a:t>
            </a:r>
          </a:p>
          <a:p>
            <a:pPr marL="1485900" lvl="2" indent="-342900"/>
            <a:r>
              <a:rPr lang="en-US" dirty="0"/>
              <a:t>Remove comments/functions not called by vulnerable code lines</a:t>
            </a:r>
          </a:p>
          <a:p>
            <a:pPr marL="1485900" lvl="2" indent="-342900"/>
            <a:r>
              <a:rPr lang="en-US" b="1" dirty="0"/>
              <a:t>Extract ONLY the vulnerable code lines + surrounding context around it</a:t>
            </a:r>
          </a:p>
          <a:p>
            <a:pPr marL="1485900" lvl="2" indent="-342900"/>
            <a:r>
              <a:rPr lang="en-US" dirty="0"/>
              <a:t>Max context – 6k</a:t>
            </a:r>
          </a:p>
        </p:txBody>
      </p:sp>
      <p:sp>
        <p:nvSpPr>
          <p:cNvPr id="4" name="Text Placeholder 3">
            <a:extLst>
              <a:ext uri="{FF2B5EF4-FFF2-40B4-BE49-F238E27FC236}">
                <a16:creationId xmlns:a16="http://schemas.microsoft.com/office/drawing/2014/main" id="{A9C6E6CE-093D-426B-8B7C-64D2D236D6C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FC2C0F8-7185-D3A4-5035-E36F5F14015F}"/>
              </a:ext>
            </a:extLst>
          </p:cNvPr>
          <p:cNvSpPr>
            <a:spLocks noGrp="1"/>
          </p:cNvSpPr>
          <p:nvPr>
            <p:ph type="sldNum" sz="quarter" idx="17"/>
          </p:nvPr>
        </p:nvSpPr>
        <p:spPr/>
        <p:txBody>
          <a:bodyPr/>
          <a:lstStyle/>
          <a:p>
            <a:fld id="{86134D44-37F0-44A1-8A08-E9432A030C07}" type="slidenum">
              <a:rPr lang="en-US" smtClean="0"/>
              <a:pPr/>
              <a:t>16</a:t>
            </a:fld>
            <a:endParaRPr lang="en-US"/>
          </a:p>
        </p:txBody>
      </p:sp>
    </p:spTree>
    <p:extLst>
      <p:ext uri="{BB962C8B-B14F-4D97-AF65-F5344CB8AC3E}">
        <p14:creationId xmlns:p14="http://schemas.microsoft.com/office/powerpoint/2010/main" val="136379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949AC-67EE-C483-AB15-BDEA6FB7D77A}"/>
              </a:ext>
            </a:extLst>
          </p:cNvPr>
          <p:cNvSpPr>
            <a:spLocks noGrp="1"/>
          </p:cNvSpPr>
          <p:nvPr>
            <p:ph type="title"/>
          </p:nvPr>
        </p:nvSpPr>
        <p:spPr/>
        <p:txBody>
          <a:bodyPr/>
          <a:lstStyle/>
          <a:p>
            <a:r>
              <a:rPr lang="en-US" dirty="0"/>
              <a:t>Raw Dataset </a:t>
            </a:r>
            <a:r>
              <a:rPr lang="en-US" dirty="0" err="1"/>
              <a:t>contd</a:t>
            </a:r>
            <a:r>
              <a:rPr lang="en-US" dirty="0"/>
              <a:t> …</a:t>
            </a:r>
          </a:p>
        </p:txBody>
      </p:sp>
      <p:sp>
        <p:nvSpPr>
          <p:cNvPr id="3" name="Text Placeholder 2">
            <a:extLst>
              <a:ext uri="{FF2B5EF4-FFF2-40B4-BE49-F238E27FC236}">
                <a16:creationId xmlns:a16="http://schemas.microsoft.com/office/drawing/2014/main" id="{916B1CFB-BC3F-B5B3-7C6B-9976BE3B020A}"/>
              </a:ext>
            </a:extLst>
          </p:cNvPr>
          <p:cNvSpPr>
            <a:spLocks noGrp="1"/>
          </p:cNvSpPr>
          <p:nvPr>
            <p:ph type="body" sz="quarter" idx="20"/>
          </p:nvPr>
        </p:nvSpPr>
        <p:spPr/>
        <p:txBody>
          <a:bodyPr>
            <a:normAutofit fontScale="92500"/>
          </a:bodyPr>
          <a:lstStyle/>
          <a:p>
            <a:pPr marL="342900" indent="-342900">
              <a:buFont typeface="Arial" panose="020B0604020202020204" pitchFamily="34" charset="0"/>
              <a:buChar char="•"/>
            </a:pPr>
            <a:r>
              <a:rPr lang="en-US" sz="2400" dirty="0"/>
              <a:t>Code Augmentations</a:t>
            </a:r>
          </a:p>
          <a:p>
            <a:pPr marL="1028700" lvl="1" indent="-342900"/>
            <a:r>
              <a:rPr lang="en-US" dirty="0"/>
              <a:t>Apply trivial and non-trivial augmentations on already collected code samples</a:t>
            </a:r>
          </a:p>
          <a:p>
            <a:pPr marL="342900" indent="-342900">
              <a:buFont typeface="Arial" panose="020B0604020202020204" pitchFamily="34" charset="0"/>
              <a:buChar char="•"/>
            </a:pPr>
            <a:r>
              <a:rPr lang="en-US" sz="2400" dirty="0"/>
              <a:t>Types of augmentations </a:t>
            </a:r>
          </a:p>
          <a:p>
            <a:pPr marL="1028700" lvl="1" indent="-342900"/>
            <a:r>
              <a:rPr lang="en-US" i="1" dirty="0"/>
              <a:t>Trivial: </a:t>
            </a:r>
          </a:p>
          <a:p>
            <a:pPr marL="1485900" lvl="2" indent="-342900"/>
            <a:r>
              <a:rPr lang="en-US" dirty="0"/>
              <a:t>Insert whitespace, add new line, random code</a:t>
            </a:r>
          </a:p>
          <a:p>
            <a:pPr marL="1485900" lvl="2" indent="-342900"/>
            <a:r>
              <a:rPr lang="en-US" dirty="0"/>
              <a:t>Rename function randomly</a:t>
            </a:r>
          </a:p>
          <a:p>
            <a:pPr marL="1028700" lvl="1" indent="-342900"/>
            <a:r>
              <a:rPr lang="en-US" i="1" dirty="0"/>
              <a:t>Non-trivial: </a:t>
            </a:r>
          </a:p>
          <a:p>
            <a:pPr marL="1485900" lvl="2" indent="-342900"/>
            <a:r>
              <a:rPr lang="en-US" dirty="0"/>
              <a:t>Change variable name to vulnerability related keywords</a:t>
            </a:r>
          </a:p>
          <a:p>
            <a:pPr marL="1485900" lvl="2" indent="-342900"/>
            <a:r>
              <a:rPr lang="en-US" dirty="0"/>
              <a:t>Write code that can potentially be used for patching but is actually not</a:t>
            </a:r>
          </a:p>
          <a:p>
            <a:pPr lvl="1" indent="0">
              <a:buNone/>
            </a:pPr>
            <a:r>
              <a:rPr lang="en-US" dirty="0"/>
              <a:t> </a:t>
            </a:r>
          </a:p>
          <a:p>
            <a:pPr marL="342900" indent="-342900">
              <a:buFont typeface="Arial" panose="020B0604020202020204" pitchFamily="34" charset="0"/>
              <a:buChar char="•"/>
            </a:pPr>
            <a:r>
              <a:rPr lang="en-US" sz="2400" dirty="0"/>
              <a:t>Total – 228 scenarios</a:t>
            </a:r>
          </a:p>
        </p:txBody>
      </p:sp>
      <p:sp>
        <p:nvSpPr>
          <p:cNvPr id="4" name="Text Placeholder 3">
            <a:extLst>
              <a:ext uri="{FF2B5EF4-FFF2-40B4-BE49-F238E27FC236}">
                <a16:creationId xmlns:a16="http://schemas.microsoft.com/office/drawing/2014/main" id="{DDB22381-8912-06C1-ECCD-9B78C9696F2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C320E71-5104-C8B2-CE24-1E86F9E2524A}"/>
              </a:ext>
            </a:extLst>
          </p:cNvPr>
          <p:cNvSpPr>
            <a:spLocks noGrp="1"/>
          </p:cNvSpPr>
          <p:nvPr>
            <p:ph type="sldNum" sz="quarter" idx="17"/>
          </p:nvPr>
        </p:nvSpPr>
        <p:spPr/>
        <p:txBody>
          <a:bodyPr/>
          <a:lstStyle/>
          <a:p>
            <a:fld id="{86134D44-37F0-44A1-8A08-E9432A030C07}" type="slidenum">
              <a:rPr lang="en-US" smtClean="0"/>
              <a:pPr/>
              <a:t>17</a:t>
            </a:fld>
            <a:endParaRPr lang="en-US"/>
          </a:p>
        </p:txBody>
      </p:sp>
    </p:spTree>
    <p:extLst>
      <p:ext uri="{BB962C8B-B14F-4D97-AF65-F5344CB8AC3E}">
        <p14:creationId xmlns:p14="http://schemas.microsoft.com/office/powerpoint/2010/main" val="1242908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29F9-F964-423D-CBDE-F1E63305B295}"/>
              </a:ext>
            </a:extLst>
          </p:cNvPr>
          <p:cNvSpPr>
            <a:spLocks noGrp="1"/>
          </p:cNvSpPr>
          <p:nvPr>
            <p:ph type="title"/>
          </p:nvPr>
        </p:nvSpPr>
        <p:spPr/>
        <p:txBody>
          <a:bodyPr/>
          <a:lstStyle/>
          <a:p>
            <a:r>
              <a:rPr lang="en-US" dirty="0"/>
              <a:t>Raw Dataset</a:t>
            </a:r>
          </a:p>
        </p:txBody>
      </p:sp>
      <p:sp>
        <p:nvSpPr>
          <p:cNvPr id="3" name="Text Placeholder 2">
            <a:extLst>
              <a:ext uri="{FF2B5EF4-FFF2-40B4-BE49-F238E27FC236}">
                <a16:creationId xmlns:a16="http://schemas.microsoft.com/office/drawing/2014/main" id="{798792EB-9C41-E9C8-BDCA-8EEF4C7DCE7A}"/>
              </a:ext>
            </a:extLst>
          </p:cNvPr>
          <p:cNvSpPr>
            <a:spLocks noGrp="1"/>
          </p:cNvSpPr>
          <p:nvPr>
            <p:ph type="body" sz="quarter" idx="20"/>
          </p:nvPr>
        </p:nvSpPr>
        <p:spPr/>
        <p:txBody>
          <a:bodyPr/>
          <a:lstStyle/>
          <a:p>
            <a:r>
              <a:rPr lang="en-US" b="1" dirty="0"/>
              <a:t>Ground truth reasoning:</a:t>
            </a:r>
          </a:p>
          <a:p>
            <a:pPr marL="342900" indent="-342900">
              <a:buFont typeface="Arial" panose="020B0604020202020204" pitchFamily="34" charset="0"/>
              <a:buChar char="•"/>
            </a:pPr>
            <a:r>
              <a:rPr lang="en-US" b="1" dirty="0"/>
              <a:t>Subsample: </a:t>
            </a:r>
            <a:r>
              <a:rPr lang="en-US" dirty="0"/>
              <a:t>Randomly sample 48 scenarios</a:t>
            </a:r>
            <a:endParaRPr lang="en-US" b="1" dirty="0"/>
          </a:p>
          <a:p>
            <a:pPr marL="342900" indent="-342900">
              <a:buFont typeface="Arial" panose="020B0604020202020204" pitchFamily="34" charset="0"/>
              <a:buChar char="•"/>
            </a:pPr>
            <a:r>
              <a:rPr lang="en-US" b="1" dirty="0"/>
              <a:t>Expert: </a:t>
            </a:r>
            <a:r>
              <a:rPr lang="en-US" dirty="0"/>
              <a:t>Assign 3 experts to create 100 words summaries ground-truth sample</a:t>
            </a:r>
          </a:p>
          <a:p>
            <a:pPr marL="342900" indent="-342900">
              <a:buFont typeface="Arial" panose="020B0604020202020204" pitchFamily="34" charset="0"/>
              <a:buChar char="•"/>
            </a:pPr>
            <a:r>
              <a:rPr lang="en-US" b="1" dirty="0"/>
              <a:t>Establish criteria for ground truth: </a:t>
            </a:r>
            <a:r>
              <a:rPr lang="en-US" dirty="0"/>
              <a:t>Discuss and develop agreement with each other on each summary</a:t>
            </a:r>
          </a:p>
          <a:p>
            <a:pPr marL="342900" indent="-342900">
              <a:buFont typeface="Arial" panose="020B0604020202020204" pitchFamily="34" charset="0"/>
              <a:buChar char="•"/>
            </a:pPr>
            <a:r>
              <a:rPr lang="en-US" b="1" dirty="0"/>
              <a:t>Scale: </a:t>
            </a:r>
            <a:r>
              <a:rPr lang="en-US" dirty="0"/>
              <a:t>Once criteria is established, one </a:t>
            </a:r>
            <a:r>
              <a:rPr lang="en-US" dirty="0" err="1"/>
              <a:t>expertapplies</a:t>
            </a:r>
            <a:r>
              <a:rPr lang="en-US" dirty="0"/>
              <a:t> it to the full dataset </a:t>
            </a:r>
          </a:p>
          <a:p>
            <a:pPr marL="1028700" lvl="1" indent="-342900">
              <a:buFontTx/>
              <a:buChar char="-"/>
            </a:pPr>
            <a:endParaRPr lang="en-US" dirty="0"/>
          </a:p>
          <a:p>
            <a:pPr marL="1028700" lvl="1" indent="-342900">
              <a:buFontTx/>
              <a:buChar char="-"/>
            </a:pPr>
            <a:endParaRPr lang="en-US" dirty="0"/>
          </a:p>
        </p:txBody>
      </p:sp>
      <p:sp>
        <p:nvSpPr>
          <p:cNvPr id="4" name="Text Placeholder 3">
            <a:extLst>
              <a:ext uri="{FF2B5EF4-FFF2-40B4-BE49-F238E27FC236}">
                <a16:creationId xmlns:a16="http://schemas.microsoft.com/office/drawing/2014/main" id="{79722833-5AF1-6C41-8551-E466D6F53D0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C11D07BB-60D7-0AC0-84AB-B0097F5EF683}"/>
              </a:ext>
            </a:extLst>
          </p:cNvPr>
          <p:cNvSpPr>
            <a:spLocks noGrp="1"/>
          </p:cNvSpPr>
          <p:nvPr>
            <p:ph type="sldNum" sz="quarter" idx="17"/>
          </p:nvPr>
        </p:nvSpPr>
        <p:spPr/>
        <p:txBody>
          <a:bodyPr/>
          <a:lstStyle/>
          <a:p>
            <a:fld id="{86134D44-37F0-44A1-8A08-E9432A030C07}" type="slidenum">
              <a:rPr lang="en-US" smtClean="0"/>
              <a:pPr/>
              <a:t>18</a:t>
            </a:fld>
            <a:endParaRPr lang="en-US"/>
          </a:p>
        </p:txBody>
      </p:sp>
    </p:spTree>
    <p:extLst>
      <p:ext uri="{BB962C8B-B14F-4D97-AF65-F5344CB8AC3E}">
        <p14:creationId xmlns:p14="http://schemas.microsoft.com/office/powerpoint/2010/main" val="135662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7BAE-C329-B062-2D92-384A8448E72E}"/>
              </a:ext>
            </a:extLst>
          </p:cNvPr>
          <p:cNvSpPr>
            <a:spLocks noGrp="1"/>
          </p:cNvSpPr>
          <p:nvPr>
            <p:ph type="title"/>
          </p:nvPr>
        </p:nvSpPr>
        <p:spPr/>
        <p:txBody>
          <a:bodyPr/>
          <a:lstStyle/>
          <a:p>
            <a:r>
              <a:rPr lang="en-US" dirty="0"/>
              <a:t>Evaluation </a:t>
            </a:r>
          </a:p>
        </p:txBody>
      </p:sp>
      <p:sp>
        <p:nvSpPr>
          <p:cNvPr id="3" name="Text Placeholder 2">
            <a:extLst>
              <a:ext uri="{FF2B5EF4-FFF2-40B4-BE49-F238E27FC236}">
                <a16:creationId xmlns:a16="http://schemas.microsoft.com/office/drawing/2014/main" id="{1D23C5D0-5660-EAA1-67F6-92A29DA207C1}"/>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Pipeline: </a:t>
            </a:r>
            <a:r>
              <a:rPr lang="en-US" sz="2400" dirty="0"/>
              <a:t>Scenario -&gt; LLM -&gt; Generation -&gt; Extraction -&gt; Evaluation</a:t>
            </a:r>
          </a:p>
          <a:p>
            <a:pPr marL="342900" indent="-342900">
              <a:buFont typeface="Arial" panose="020B0604020202020204" pitchFamily="34" charset="0"/>
              <a:buChar char="•"/>
            </a:pPr>
            <a:r>
              <a:rPr lang="en-US" sz="2400" b="1" dirty="0"/>
              <a:t>Generation:</a:t>
            </a:r>
          </a:p>
          <a:p>
            <a:pPr marL="1028700" lvl="1" indent="-342900"/>
            <a:r>
              <a:rPr lang="en-US" sz="2000" dirty="0"/>
              <a:t>Ask LLM to state </a:t>
            </a:r>
          </a:p>
          <a:p>
            <a:pPr marL="1485900" lvl="2" indent="-342900"/>
            <a:r>
              <a:rPr lang="en-US" i="1" dirty="0"/>
              <a:t>Binary Answer: </a:t>
            </a:r>
            <a:r>
              <a:rPr lang="en-US" dirty="0"/>
              <a:t>Yes/No/NA if vulnerability is present or not</a:t>
            </a:r>
          </a:p>
          <a:p>
            <a:pPr marL="1485900" lvl="2" indent="-342900"/>
            <a:r>
              <a:rPr lang="en-US" i="1" dirty="0"/>
              <a:t>Reasoning for the answer: </a:t>
            </a:r>
            <a:r>
              <a:rPr lang="en-US" dirty="0"/>
              <a:t>Provide reasoning  for the answer</a:t>
            </a:r>
          </a:p>
          <a:p>
            <a:pPr marL="342900" indent="-342900">
              <a:buFont typeface="Arial" panose="020B0604020202020204" pitchFamily="34" charset="0"/>
              <a:buChar char="•"/>
            </a:pPr>
            <a:r>
              <a:rPr lang="en-US" sz="2400" b="1" dirty="0"/>
              <a:t>Extraction:</a:t>
            </a:r>
          </a:p>
          <a:p>
            <a:pPr marL="1028700" lvl="1" indent="-342900"/>
            <a:r>
              <a:rPr lang="en-US" sz="2000" i="1" dirty="0"/>
              <a:t>Binary answer: </a:t>
            </a:r>
            <a:r>
              <a:rPr lang="en-US" sz="2000" dirty="0"/>
              <a:t>Simple</a:t>
            </a:r>
            <a:r>
              <a:rPr lang="en-US" sz="2000" i="1" dirty="0"/>
              <a:t> </a:t>
            </a:r>
            <a:r>
              <a:rPr lang="en-US" sz="2000" dirty="0"/>
              <a:t>String extraction</a:t>
            </a:r>
          </a:p>
          <a:p>
            <a:pPr marL="1028700" lvl="1" indent="-342900"/>
            <a:r>
              <a:rPr lang="en-US" sz="2000" i="1" dirty="0"/>
              <a:t>Reasoning: </a:t>
            </a:r>
            <a:r>
              <a:rPr lang="en-US" sz="2000" dirty="0"/>
              <a:t>Use GPT4 for summarizing the reasoning of the LLM</a:t>
            </a:r>
          </a:p>
          <a:p>
            <a:pPr marL="1485900" lvl="2" indent="-342900"/>
            <a:r>
              <a:rPr lang="en-US" sz="1600" dirty="0"/>
              <a:t>To maintain “consistency”, as some models also provide fixed answers</a:t>
            </a:r>
          </a:p>
        </p:txBody>
      </p:sp>
      <p:sp>
        <p:nvSpPr>
          <p:cNvPr id="4" name="Text Placeholder 3">
            <a:extLst>
              <a:ext uri="{FF2B5EF4-FFF2-40B4-BE49-F238E27FC236}">
                <a16:creationId xmlns:a16="http://schemas.microsoft.com/office/drawing/2014/main" id="{AEED1C9E-4EA7-54A5-D847-C1B8698A89D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750F48E-4625-4838-793D-67DAB655CAD6}"/>
              </a:ext>
            </a:extLst>
          </p:cNvPr>
          <p:cNvSpPr>
            <a:spLocks noGrp="1"/>
          </p:cNvSpPr>
          <p:nvPr>
            <p:ph type="sldNum" sz="quarter" idx="17"/>
          </p:nvPr>
        </p:nvSpPr>
        <p:spPr/>
        <p:txBody>
          <a:bodyPr/>
          <a:lstStyle/>
          <a:p>
            <a:fld id="{86134D44-37F0-44A1-8A08-E9432A030C07}" type="slidenum">
              <a:rPr lang="en-US" smtClean="0"/>
              <a:pPr/>
              <a:t>19</a:t>
            </a:fld>
            <a:endParaRPr lang="en-US"/>
          </a:p>
        </p:txBody>
      </p:sp>
    </p:spTree>
    <p:extLst>
      <p:ext uri="{BB962C8B-B14F-4D97-AF65-F5344CB8AC3E}">
        <p14:creationId xmlns:p14="http://schemas.microsoft.com/office/powerpoint/2010/main" val="3418816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509F0-E83F-276D-EDFA-17E6451FE22A}"/>
              </a:ext>
            </a:extLst>
          </p:cNvPr>
          <p:cNvSpPr>
            <a:spLocks noGrp="1"/>
          </p:cNvSpPr>
          <p:nvPr>
            <p:ph type="title"/>
          </p:nvPr>
        </p:nvSpPr>
        <p:spPr/>
        <p:txBody>
          <a:bodyPr/>
          <a:lstStyle/>
          <a:p>
            <a:r>
              <a:rPr lang="en-US" dirty="0"/>
              <a:t>Evaluation </a:t>
            </a:r>
            <a:r>
              <a:rPr lang="en-US" dirty="0" err="1"/>
              <a:t>contd</a:t>
            </a:r>
            <a:r>
              <a:rPr lang="en-US" dirty="0"/>
              <a:t>…</a:t>
            </a:r>
          </a:p>
        </p:txBody>
      </p:sp>
      <p:sp>
        <p:nvSpPr>
          <p:cNvPr id="3" name="Text Placeholder 2">
            <a:extLst>
              <a:ext uri="{FF2B5EF4-FFF2-40B4-BE49-F238E27FC236}">
                <a16:creationId xmlns:a16="http://schemas.microsoft.com/office/drawing/2014/main" id="{B19463B1-61FC-2B90-DE74-EDD938092EA6}"/>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Evaluation:</a:t>
            </a:r>
          </a:p>
          <a:p>
            <a:pPr marL="1028700" lvl="1" indent="-342900"/>
            <a:r>
              <a:rPr lang="en-US" b="1" dirty="0"/>
              <a:t>Accuracy Score:</a:t>
            </a:r>
          </a:p>
          <a:p>
            <a:pPr marL="1485900" lvl="2" indent="-342900"/>
            <a:r>
              <a:rPr lang="en-US" dirty="0"/>
              <a:t>Ground truth == Extracted Response?</a:t>
            </a:r>
          </a:p>
          <a:p>
            <a:pPr marL="1485900" lvl="2" indent="-342900"/>
            <a:r>
              <a:rPr lang="en-US" dirty="0"/>
              <a:t>Use simple accuracy for this </a:t>
            </a:r>
          </a:p>
          <a:p>
            <a:pPr marL="1028700" lvl="1" indent="-342900"/>
            <a:r>
              <a:rPr lang="en-US" b="1" dirty="0"/>
              <a:t>Reasoning score:</a:t>
            </a:r>
          </a:p>
          <a:p>
            <a:pPr marL="1485900" lvl="2" indent="-342900"/>
            <a:r>
              <a:rPr lang="en-US" dirty="0"/>
              <a:t>From we each method, determine reasoning score</a:t>
            </a:r>
          </a:p>
          <a:p>
            <a:pPr marL="1485900" lvl="2" indent="-342900"/>
            <a:r>
              <a:rPr lang="en-US" b="1" dirty="0"/>
              <a:t>ROUGE: </a:t>
            </a:r>
            <a:r>
              <a:rPr lang="en-US" dirty="0"/>
              <a:t>Overlapping n-grams</a:t>
            </a:r>
          </a:p>
          <a:p>
            <a:pPr marL="1943100" lvl="3" indent="-342900"/>
            <a:r>
              <a:rPr lang="en-US" dirty="0"/>
              <a:t>Create a validation set, and determine appropriate hyperparameters </a:t>
            </a:r>
          </a:p>
          <a:p>
            <a:pPr marL="1943100" lvl="3" indent="-342900"/>
            <a:r>
              <a:rPr lang="en-US" i="1" dirty="0"/>
              <a:t>Set threshold: </a:t>
            </a:r>
            <a:r>
              <a:rPr lang="en-US" dirty="0"/>
              <a:t>If similarity value &gt; threshold -&gt; Reasoning Score = 1</a:t>
            </a:r>
          </a:p>
          <a:p>
            <a:pPr marL="1485900" lvl="2" indent="-342900"/>
            <a:endParaRPr lang="en-US" dirty="0"/>
          </a:p>
        </p:txBody>
      </p:sp>
      <p:sp>
        <p:nvSpPr>
          <p:cNvPr id="4" name="Text Placeholder 3">
            <a:extLst>
              <a:ext uri="{FF2B5EF4-FFF2-40B4-BE49-F238E27FC236}">
                <a16:creationId xmlns:a16="http://schemas.microsoft.com/office/drawing/2014/main" id="{ADB57A3D-74D2-2DE5-7C32-11B8894BACB3}"/>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6EFC1D3D-7D57-DAE4-FB4B-B359DAC2E989}"/>
              </a:ext>
            </a:extLst>
          </p:cNvPr>
          <p:cNvSpPr>
            <a:spLocks noGrp="1"/>
          </p:cNvSpPr>
          <p:nvPr>
            <p:ph type="sldNum" sz="quarter" idx="17"/>
          </p:nvPr>
        </p:nvSpPr>
        <p:spPr/>
        <p:txBody>
          <a:bodyPr/>
          <a:lstStyle/>
          <a:p>
            <a:fld id="{86134D44-37F0-44A1-8A08-E9432A030C07}" type="slidenum">
              <a:rPr lang="en-US" smtClean="0"/>
              <a:pPr/>
              <a:t>20</a:t>
            </a:fld>
            <a:endParaRPr lang="en-US"/>
          </a:p>
        </p:txBody>
      </p:sp>
    </p:spTree>
    <p:extLst>
      <p:ext uri="{BB962C8B-B14F-4D97-AF65-F5344CB8AC3E}">
        <p14:creationId xmlns:p14="http://schemas.microsoft.com/office/powerpoint/2010/main" val="2749687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986B2-D904-2902-FEE5-CBE9E61DD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E5422-3645-8DD4-805B-D22EF80A5FED}"/>
              </a:ext>
            </a:extLst>
          </p:cNvPr>
          <p:cNvSpPr>
            <a:spLocks noGrp="1"/>
          </p:cNvSpPr>
          <p:nvPr>
            <p:ph type="title"/>
          </p:nvPr>
        </p:nvSpPr>
        <p:spPr/>
        <p:txBody>
          <a:bodyPr/>
          <a:lstStyle/>
          <a:p>
            <a:r>
              <a:rPr lang="en-US" dirty="0"/>
              <a:t>Evaluation </a:t>
            </a:r>
            <a:r>
              <a:rPr lang="en-US" dirty="0" err="1"/>
              <a:t>contd</a:t>
            </a:r>
            <a:r>
              <a:rPr lang="en-US" dirty="0"/>
              <a:t>…</a:t>
            </a:r>
          </a:p>
        </p:txBody>
      </p:sp>
      <p:sp>
        <p:nvSpPr>
          <p:cNvPr id="3" name="Text Placeholder 2">
            <a:extLst>
              <a:ext uri="{FF2B5EF4-FFF2-40B4-BE49-F238E27FC236}">
                <a16:creationId xmlns:a16="http://schemas.microsoft.com/office/drawing/2014/main" id="{62A79E6D-F657-23CF-C277-3E6290385873}"/>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Evaluation:</a:t>
            </a:r>
          </a:p>
          <a:p>
            <a:pPr marL="1028700" lvl="1" indent="-342900"/>
            <a:r>
              <a:rPr lang="en-US" b="1" dirty="0"/>
              <a:t>Reasoning score:</a:t>
            </a:r>
          </a:p>
          <a:p>
            <a:pPr marL="1485900" lvl="2" indent="-342900"/>
            <a:r>
              <a:rPr lang="en-US" dirty="0"/>
              <a:t>From we each method, determine reasoning score</a:t>
            </a:r>
          </a:p>
          <a:p>
            <a:pPr marL="1485900" lvl="2" indent="-342900"/>
            <a:r>
              <a:rPr lang="en-US" b="1" dirty="0"/>
              <a:t>ROUGE: (….)</a:t>
            </a:r>
          </a:p>
          <a:p>
            <a:pPr marL="1485900" lvl="2" indent="-342900"/>
            <a:r>
              <a:rPr lang="en-US" b="1" dirty="0"/>
              <a:t>Cosine Similarity: </a:t>
            </a:r>
          </a:p>
          <a:p>
            <a:pPr marL="1943100" lvl="3" indent="-342900"/>
            <a:r>
              <a:rPr lang="en-US" dirty="0"/>
              <a:t>Reasoning -&gt; embedding model -&gt; representations</a:t>
            </a:r>
          </a:p>
          <a:p>
            <a:pPr marL="1943100" lvl="3" indent="-342900"/>
            <a:r>
              <a:rPr lang="en-US" dirty="0"/>
              <a:t>Create a validation set, and determine appropriate hyperparameters </a:t>
            </a:r>
          </a:p>
          <a:p>
            <a:pPr marL="1943100" lvl="3" indent="-342900"/>
            <a:r>
              <a:rPr lang="en-US" i="1" dirty="0"/>
              <a:t>Set threshold: </a:t>
            </a:r>
            <a:r>
              <a:rPr lang="en-US" dirty="0"/>
              <a:t>If similarity value &gt; threshold -&gt; Reasoning Score = 1</a:t>
            </a:r>
          </a:p>
          <a:p>
            <a:pPr lvl="3" indent="0">
              <a:buNone/>
            </a:pPr>
            <a:endParaRPr lang="en-US" dirty="0"/>
          </a:p>
          <a:p>
            <a:pPr marL="1943100" lvl="3" indent="-342900"/>
            <a:endParaRPr lang="en-US" dirty="0"/>
          </a:p>
          <a:p>
            <a:pPr marL="1943100" lvl="3" indent="-342900"/>
            <a:endParaRPr lang="en-US" dirty="0"/>
          </a:p>
        </p:txBody>
      </p:sp>
      <p:sp>
        <p:nvSpPr>
          <p:cNvPr id="4" name="Text Placeholder 3">
            <a:extLst>
              <a:ext uri="{FF2B5EF4-FFF2-40B4-BE49-F238E27FC236}">
                <a16:creationId xmlns:a16="http://schemas.microsoft.com/office/drawing/2014/main" id="{41D030B0-F6A6-0198-7C34-E681D45AE6B0}"/>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B986448-CBF0-3BA0-6F33-FA616664F3A9}"/>
              </a:ext>
            </a:extLst>
          </p:cNvPr>
          <p:cNvSpPr>
            <a:spLocks noGrp="1"/>
          </p:cNvSpPr>
          <p:nvPr>
            <p:ph type="sldNum" sz="quarter" idx="17"/>
          </p:nvPr>
        </p:nvSpPr>
        <p:spPr/>
        <p:txBody>
          <a:bodyPr/>
          <a:lstStyle/>
          <a:p>
            <a:fld id="{86134D44-37F0-44A1-8A08-E9432A030C07}" type="slidenum">
              <a:rPr lang="en-US" smtClean="0"/>
              <a:pPr/>
              <a:t>21</a:t>
            </a:fld>
            <a:endParaRPr lang="en-US"/>
          </a:p>
        </p:txBody>
      </p:sp>
    </p:spTree>
    <p:extLst>
      <p:ext uri="{BB962C8B-B14F-4D97-AF65-F5344CB8AC3E}">
        <p14:creationId xmlns:p14="http://schemas.microsoft.com/office/powerpoint/2010/main" val="3568989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77FC3-3D83-7997-37A2-5B6ECBD7A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36292-69FB-7666-7C53-BF8F69EDD849}"/>
              </a:ext>
            </a:extLst>
          </p:cNvPr>
          <p:cNvSpPr>
            <a:spLocks noGrp="1"/>
          </p:cNvSpPr>
          <p:nvPr>
            <p:ph type="title"/>
          </p:nvPr>
        </p:nvSpPr>
        <p:spPr/>
        <p:txBody>
          <a:bodyPr/>
          <a:lstStyle/>
          <a:p>
            <a:r>
              <a:rPr lang="en-US" dirty="0"/>
              <a:t>Evaluation </a:t>
            </a:r>
            <a:r>
              <a:rPr lang="en-US" dirty="0" err="1"/>
              <a:t>contd</a:t>
            </a:r>
            <a:r>
              <a:rPr lang="en-US" dirty="0"/>
              <a:t>…</a:t>
            </a:r>
          </a:p>
        </p:txBody>
      </p:sp>
      <p:sp>
        <p:nvSpPr>
          <p:cNvPr id="3" name="Text Placeholder 2">
            <a:extLst>
              <a:ext uri="{FF2B5EF4-FFF2-40B4-BE49-F238E27FC236}">
                <a16:creationId xmlns:a16="http://schemas.microsoft.com/office/drawing/2014/main" id="{06B4FE5E-3133-1F23-05D9-9A9801A7B816}"/>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Evaluation:</a:t>
            </a:r>
          </a:p>
          <a:p>
            <a:pPr marL="1028700" lvl="1" indent="-342900"/>
            <a:r>
              <a:rPr lang="en-US" b="1" dirty="0"/>
              <a:t>Reasoning score:</a:t>
            </a:r>
          </a:p>
          <a:p>
            <a:pPr marL="1485900" lvl="2" indent="-342900"/>
            <a:r>
              <a:rPr lang="en-US" dirty="0"/>
              <a:t>From we each method, determine reasoning score</a:t>
            </a:r>
          </a:p>
          <a:p>
            <a:pPr marL="1485900" lvl="2" indent="-342900"/>
            <a:r>
              <a:rPr lang="en-US" b="1" dirty="0"/>
              <a:t>ROUGE: (….)</a:t>
            </a:r>
          </a:p>
          <a:p>
            <a:pPr marL="1485900" lvl="2" indent="-342900"/>
            <a:r>
              <a:rPr lang="en-US" b="1" dirty="0"/>
              <a:t>Cosine Similarity (….)</a:t>
            </a:r>
          </a:p>
          <a:p>
            <a:pPr marL="1485900" lvl="2" indent="-342900"/>
            <a:r>
              <a:rPr lang="en-US" b="1" dirty="0"/>
              <a:t>GPT4:</a:t>
            </a:r>
          </a:p>
          <a:p>
            <a:pPr marL="1943100" lvl="3" indent="-342900"/>
            <a:r>
              <a:rPr lang="en-US" dirty="0"/>
              <a:t>Prompt GPT4 if two reasoning are same</a:t>
            </a:r>
          </a:p>
          <a:p>
            <a:pPr marL="1943100" lvl="3" indent="-342900"/>
            <a:r>
              <a:rPr lang="en-US" dirty="0"/>
              <a:t>”Yes” -&gt; reasoning score = 1</a:t>
            </a:r>
          </a:p>
          <a:p>
            <a:pPr marL="1943100" lvl="3" indent="-342900"/>
            <a:r>
              <a:rPr lang="en-US" dirty="0"/>
              <a:t>“No” -&gt; reasoning score = 0</a:t>
            </a:r>
          </a:p>
          <a:p>
            <a:pPr marL="1943100" lvl="3" indent="-342900"/>
            <a:r>
              <a:rPr lang="en-US" dirty="0"/>
              <a:t>Check method on validation set </a:t>
            </a:r>
          </a:p>
          <a:p>
            <a:pPr marL="2400300" lvl="4" indent="-342900"/>
            <a:r>
              <a:rPr lang="en-US" dirty="0"/>
              <a:t>48/50 reasonings (also generated by GPT4!) were correct </a:t>
            </a:r>
          </a:p>
          <a:p>
            <a:pPr marL="1485900" lvl="2" indent="-342900"/>
            <a:r>
              <a:rPr lang="en-US" b="1" dirty="0"/>
              <a:t>Majority vote </a:t>
            </a:r>
            <a:r>
              <a:rPr lang="en-US" dirty="0"/>
              <a:t>on the the above three methods</a:t>
            </a:r>
          </a:p>
          <a:p>
            <a:pPr marL="1943100" lvl="3" indent="-342900"/>
            <a:endParaRPr lang="en-US" dirty="0"/>
          </a:p>
          <a:p>
            <a:pPr marL="1943100" lvl="3" indent="-342900"/>
            <a:endParaRPr lang="en-US" dirty="0"/>
          </a:p>
        </p:txBody>
      </p:sp>
      <p:sp>
        <p:nvSpPr>
          <p:cNvPr id="4" name="Text Placeholder 3">
            <a:extLst>
              <a:ext uri="{FF2B5EF4-FFF2-40B4-BE49-F238E27FC236}">
                <a16:creationId xmlns:a16="http://schemas.microsoft.com/office/drawing/2014/main" id="{E67D9692-0B37-0CC7-E60B-CAF44FA3C94D}"/>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BAFCB72-2569-0E94-4BAD-063DDE516ED6}"/>
              </a:ext>
            </a:extLst>
          </p:cNvPr>
          <p:cNvSpPr>
            <a:spLocks noGrp="1"/>
          </p:cNvSpPr>
          <p:nvPr>
            <p:ph type="sldNum" sz="quarter" idx="17"/>
          </p:nvPr>
        </p:nvSpPr>
        <p:spPr/>
        <p:txBody>
          <a:bodyPr/>
          <a:lstStyle/>
          <a:p>
            <a:fld id="{86134D44-37F0-44A1-8A08-E9432A030C07}" type="slidenum">
              <a:rPr lang="en-US" smtClean="0"/>
              <a:pPr/>
              <a:t>22</a:t>
            </a:fld>
            <a:endParaRPr lang="en-US"/>
          </a:p>
        </p:txBody>
      </p:sp>
    </p:spTree>
    <p:extLst>
      <p:ext uri="{BB962C8B-B14F-4D97-AF65-F5344CB8AC3E}">
        <p14:creationId xmlns:p14="http://schemas.microsoft.com/office/powerpoint/2010/main" val="1852767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B15CA-01E1-6524-3EB2-282C09AB4626}"/>
              </a:ext>
            </a:extLst>
          </p:cNvPr>
          <p:cNvSpPr>
            <a:spLocks noGrp="1"/>
          </p:cNvSpPr>
          <p:nvPr>
            <p:ph type="title"/>
          </p:nvPr>
        </p:nvSpPr>
        <p:spPr/>
        <p:txBody>
          <a:bodyPr/>
          <a:lstStyle/>
          <a:p>
            <a:r>
              <a:rPr lang="en-US" dirty="0"/>
              <a:t>Experiments</a:t>
            </a:r>
          </a:p>
        </p:txBody>
      </p:sp>
      <p:sp>
        <p:nvSpPr>
          <p:cNvPr id="3" name="Text Placeholder 2">
            <a:extLst>
              <a:ext uri="{FF2B5EF4-FFF2-40B4-BE49-F238E27FC236}">
                <a16:creationId xmlns:a16="http://schemas.microsoft.com/office/drawing/2014/main" id="{962C816A-2A22-B011-1D4B-436007CBC1F3}"/>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ECEAB9E8-A92B-3523-88CA-CC113BF70A0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26001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7FCE8-3C70-7B50-A118-6014C0A53C41}"/>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350F40E0-A2CA-10F6-05E6-C0DEC6142CB0}"/>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Consistency: </a:t>
            </a:r>
            <a:r>
              <a:rPr lang="en-US" sz="2400" dirty="0"/>
              <a:t>Same responses, even with different parameters</a:t>
            </a:r>
          </a:p>
          <a:p>
            <a:pPr marL="342900" indent="-342900">
              <a:buFont typeface="Arial" panose="020B0604020202020204" pitchFamily="34" charset="0"/>
              <a:buChar char="•"/>
            </a:pPr>
            <a:r>
              <a:rPr lang="en-US" sz="2400" dirty="0"/>
              <a:t>Procedure</a:t>
            </a:r>
          </a:p>
          <a:p>
            <a:pPr marL="1028700" lvl="1" indent="-342900"/>
            <a:r>
              <a:rPr lang="en-US" sz="2200" dirty="0"/>
              <a:t>Follow the LLM’s documentation and select the “best” parameters for consistency</a:t>
            </a:r>
          </a:p>
          <a:p>
            <a:pPr marL="1028700" lvl="1" indent="-342900"/>
            <a:r>
              <a:rPr lang="en-US" sz="2200" dirty="0"/>
              <a:t>Test the LLM’s consistency on these parameters</a:t>
            </a:r>
          </a:p>
          <a:p>
            <a:pPr marL="342900" indent="-342900">
              <a:buFont typeface="Arial" panose="020B0604020202020204" pitchFamily="34" charset="0"/>
              <a:buChar char="•"/>
            </a:pPr>
            <a:r>
              <a:rPr lang="en-US" sz="2400" dirty="0"/>
              <a:t>Example: GPT4</a:t>
            </a:r>
          </a:p>
          <a:p>
            <a:pPr marL="1028700" lvl="1" indent="-342900"/>
            <a:r>
              <a:rPr lang="en-US" sz="2200" dirty="0"/>
              <a:t>Temperature = 0.2, </a:t>
            </a:r>
            <a:r>
              <a:rPr lang="en-US" sz="2200" dirty="0" err="1"/>
              <a:t>Top_p</a:t>
            </a:r>
            <a:r>
              <a:rPr lang="en-US" sz="2200" dirty="0"/>
              <a:t> = 0.1 (based on documentation)</a:t>
            </a:r>
          </a:p>
          <a:p>
            <a:pPr marL="1028700" lvl="1" indent="-342900"/>
            <a:r>
              <a:rPr lang="en-US" sz="2200" dirty="0"/>
              <a:t>Still inconsistent results</a:t>
            </a:r>
          </a:p>
          <a:p>
            <a:pPr marL="1028700" lvl="1" indent="-342900"/>
            <a:r>
              <a:rPr lang="en-US" sz="2200" dirty="0"/>
              <a:t>So, they set temperature as 0.0 -&gt; now report consistent results (mostly)</a:t>
            </a:r>
            <a:endParaRPr lang="en-US" dirty="0"/>
          </a:p>
          <a:p>
            <a:pPr lvl="1" indent="0">
              <a:buNone/>
            </a:pPr>
            <a:endParaRPr lang="en-US" dirty="0"/>
          </a:p>
        </p:txBody>
      </p:sp>
      <p:sp>
        <p:nvSpPr>
          <p:cNvPr id="4" name="Text Placeholder 3">
            <a:extLst>
              <a:ext uri="{FF2B5EF4-FFF2-40B4-BE49-F238E27FC236}">
                <a16:creationId xmlns:a16="http://schemas.microsoft.com/office/drawing/2014/main" id="{44E76BA9-7479-E561-EFD2-727437BEB4E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55E6402-EBFA-32E9-D83D-B936B4EFCA8E}"/>
              </a:ext>
            </a:extLst>
          </p:cNvPr>
          <p:cNvSpPr>
            <a:spLocks noGrp="1"/>
          </p:cNvSpPr>
          <p:nvPr>
            <p:ph type="sldNum" sz="quarter" idx="17"/>
          </p:nvPr>
        </p:nvSpPr>
        <p:spPr/>
        <p:txBody>
          <a:bodyPr/>
          <a:lstStyle/>
          <a:p>
            <a:fld id="{86134D44-37F0-44A1-8A08-E9432A030C07}" type="slidenum">
              <a:rPr lang="en-US" smtClean="0"/>
              <a:pPr/>
              <a:t>24</a:t>
            </a:fld>
            <a:endParaRPr lang="en-US"/>
          </a:p>
        </p:txBody>
      </p:sp>
    </p:spTree>
    <p:extLst>
      <p:ext uri="{BB962C8B-B14F-4D97-AF65-F5344CB8AC3E}">
        <p14:creationId xmlns:p14="http://schemas.microsoft.com/office/powerpoint/2010/main" val="1288697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BA19B-335B-2F75-443C-10CECF7B40CE}"/>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84DFC300-58CB-055D-F648-13FC8EF04CAC}"/>
              </a:ext>
            </a:extLst>
          </p:cNvPr>
          <p:cNvSpPr>
            <a:spLocks noGrp="1"/>
          </p:cNvSpPr>
          <p:nvPr>
            <p:ph type="body" sz="quarter" idx="20"/>
          </p:nvPr>
        </p:nvSpPr>
        <p:spPr/>
        <p:txBody>
          <a:bodyPr/>
          <a:lstStyle/>
          <a:p>
            <a:r>
              <a:rPr lang="en-US" i="1" dirty="0"/>
              <a:t>Based on these results, we find that </a:t>
            </a:r>
            <a:r>
              <a:rPr lang="en-US" b="1" i="1" dirty="0"/>
              <a:t>0.0 is the best ‘temperature’ value </a:t>
            </a:r>
            <a:r>
              <a:rPr lang="en-US" i="1" dirty="0"/>
              <a:t>to get consistent responses from an LLM, although we note that even at this setting some LLMs fail in delivering consistent responses.</a:t>
            </a:r>
          </a:p>
          <a:p>
            <a:endParaRPr lang="en-US" i="1" dirty="0"/>
          </a:p>
          <a:p>
            <a:endParaRPr lang="en-US" i="1" dirty="0"/>
          </a:p>
          <a:p>
            <a:endParaRPr lang="en-US" i="1" dirty="0"/>
          </a:p>
          <a:p>
            <a:endParaRPr lang="en-US" i="1" dirty="0"/>
          </a:p>
          <a:p>
            <a:endParaRPr lang="en-US" i="1" dirty="0"/>
          </a:p>
          <a:p>
            <a:endParaRPr lang="en-US" dirty="0"/>
          </a:p>
        </p:txBody>
      </p:sp>
      <p:sp>
        <p:nvSpPr>
          <p:cNvPr id="4" name="Text Placeholder 3">
            <a:extLst>
              <a:ext uri="{FF2B5EF4-FFF2-40B4-BE49-F238E27FC236}">
                <a16:creationId xmlns:a16="http://schemas.microsoft.com/office/drawing/2014/main" id="{EED787A0-4564-DDD1-4328-66AA5EC2F50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429B55B0-7CFC-9292-7E89-00BC7AEF9855}"/>
              </a:ext>
            </a:extLst>
          </p:cNvPr>
          <p:cNvSpPr>
            <a:spLocks noGrp="1"/>
          </p:cNvSpPr>
          <p:nvPr>
            <p:ph type="sldNum" sz="quarter" idx="17"/>
          </p:nvPr>
        </p:nvSpPr>
        <p:spPr/>
        <p:txBody>
          <a:bodyPr/>
          <a:lstStyle/>
          <a:p>
            <a:fld id="{86134D44-37F0-44A1-8A08-E9432A030C07}" type="slidenum">
              <a:rPr lang="en-US" smtClean="0"/>
              <a:pPr/>
              <a:t>25</a:t>
            </a:fld>
            <a:endParaRPr lang="en-US"/>
          </a:p>
        </p:txBody>
      </p:sp>
      <p:pic>
        <p:nvPicPr>
          <p:cNvPr id="6" name="Picture 5">
            <a:extLst>
              <a:ext uri="{FF2B5EF4-FFF2-40B4-BE49-F238E27FC236}">
                <a16:creationId xmlns:a16="http://schemas.microsoft.com/office/drawing/2014/main" id="{0857213D-CE71-FFFA-A184-F851C19B2E6B}"/>
              </a:ext>
            </a:extLst>
          </p:cNvPr>
          <p:cNvPicPr>
            <a:picLocks noChangeAspect="1"/>
          </p:cNvPicPr>
          <p:nvPr/>
        </p:nvPicPr>
        <p:blipFill>
          <a:blip r:embed="rId2"/>
          <a:stretch>
            <a:fillRect/>
          </a:stretch>
        </p:blipFill>
        <p:spPr>
          <a:xfrm>
            <a:off x="5837558" y="2622504"/>
            <a:ext cx="4658032" cy="3168192"/>
          </a:xfrm>
          <a:prstGeom prst="rect">
            <a:avLst/>
          </a:prstGeom>
        </p:spPr>
      </p:pic>
    </p:spTree>
    <p:extLst>
      <p:ext uri="{BB962C8B-B14F-4D97-AF65-F5344CB8AC3E}">
        <p14:creationId xmlns:p14="http://schemas.microsoft.com/office/powerpoint/2010/main" val="2748745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C45A-19AC-1BB0-E1E4-561ED8A91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D05AB-6134-55CA-123B-7F46A353C2D0}"/>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90B60546-7F2B-4CC2-0DD3-6BA325C67D28}"/>
              </a:ext>
            </a:extLst>
          </p:cNvPr>
          <p:cNvSpPr>
            <a:spLocks noGrp="1"/>
          </p:cNvSpPr>
          <p:nvPr>
            <p:ph type="body" sz="quarter" idx="20"/>
          </p:nvPr>
        </p:nvSpPr>
        <p:spPr/>
        <p:txBody>
          <a:bodyPr/>
          <a:lstStyle/>
          <a:p>
            <a:r>
              <a:rPr lang="en-US" i="1" dirty="0"/>
              <a:t>Based on these results, we find that </a:t>
            </a:r>
            <a:r>
              <a:rPr lang="en-US" b="1" i="1" dirty="0"/>
              <a:t>0.0 is the best ‘temperature’ value </a:t>
            </a:r>
            <a:r>
              <a:rPr lang="en-US" i="1" dirty="0"/>
              <a:t>to get consistent responses from an LLM, although we note that even at this setting some LLMs fail in delivering consistent responses.</a:t>
            </a:r>
          </a:p>
          <a:p>
            <a:endParaRPr lang="en-US" i="1" dirty="0"/>
          </a:p>
          <a:p>
            <a:r>
              <a:rPr lang="en-US" b="1" dirty="0"/>
              <a:t>Definition of temperature parameter!</a:t>
            </a:r>
            <a:endParaRPr lang="en-US" b="1" i="1" dirty="0"/>
          </a:p>
          <a:p>
            <a:endParaRPr lang="en-US" i="1" dirty="0"/>
          </a:p>
          <a:p>
            <a:endParaRPr lang="en-US" i="1" dirty="0"/>
          </a:p>
          <a:p>
            <a:endParaRPr lang="en-US" i="1" dirty="0"/>
          </a:p>
          <a:p>
            <a:endParaRPr lang="en-US" i="1" dirty="0"/>
          </a:p>
          <a:p>
            <a:endParaRPr lang="en-US" dirty="0"/>
          </a:p>
        </p:txBody>
      </p:sp>
      <p:sp>
        <p:nvSpPr>
          <p:cNvPr id="4" name="Text Placeholder 3">
            <a:extLst>
              <a:ext uri="{FF2B5EF4-FFF2-40B4-BE49-F238E27FC236}">
                <a16:creationId xmlns:a16="http://schemas.microsoft.com/office/drawing/2014/main" id="{6D7E273F-92FC-255F-7E47-F17AC86CF82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708E9FDA-4D66-95B0-F9FD-994E6E9B4D3A}"/>
              </a:ext>
            </a:extLst>
          </p:cNvPr>
          <p:cNvSpPr>
            <a:spLocks noGrp="1"/>
          </p:cNvSpPr>
          <p:nvPr>
            <p:ph type="sldNum" sz="quarter" idx="17"/>
          </p:nvPr>
        </p:nvSpPr>
        <p:spPr/>
        <p:txBody>
          <a:bodyPr/>
          <a:lstStyle/>
          <a:p>
            <a:fld id="{86134D44-37F0-44A1-8A08-E9432A030C07}" type="slidenum">
              <a:rPr lang="en-US" smtClean="0"/>
              <a:pPr/>
              <a:t>26</a:t>
            </a:fld>
            <a:endParaRPr lang="en-US"/>
          </a:p>
        </p:txBody>
      </p:sp>
      <p:pic>
        <p:nvPicPr>
          <p:cNvPr id="6" name="Picture 5">
            <a:extLst>
              <a:ext uri="{FF2B5EF4-FFF2-40B4-BE49-F238E27FC236}">
                <a16:creationId xmlns:a16="http://schemas.microsoft.com/office/drawing/2014/main" id="{4F110FA8-DF0D-A1F0-11F3-0E849CCE58B0}"/>
              </a:ext>
            </a:extLst>
          </p:cNvPr>
          <p:cNvPicPr>
            <a:picLocks noChangeAspect="1"/>
          </p:cNvPicPr>
          <p:nvPr/>
        </p:nvPicPr>
        <p:blipFill>
          <a:blip r:embed="rId2"/>
          <a:stretch>
            <a:fillRect/>
          </a:stretch>
        </p:blipFill>
        <p:spPr>
          <a:xfrm>
            <a:off x="5606556" y="2690675"/>
            <a:ext cx="4658032" cy="3168192"/>
          </a:xfrm>
          <a:prstGeom prst="rect">
            <a:avLst/>
          </a:prstGeom>
        </p:spPr>
      </p:pic>
    </p:spTree>
    <p:extLst>
      <p:ext uri="{BB962C8B-B14F-4D97-AF65-F5344CB8AC3E}">
        <p14:creationId xmlns:p14="http://schemas.microsoft.com/office/powerpoint/2010/main" val="497727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A3BF-9F88-CA0A-26D4-12F4612FCBFE}"/>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276A54DF-D4F0-1C4B-A03B-5A48EC033263}"/>
              </a:ext>
            </a:extLst>
          </p:cNvPr>
          <p:cNvSpPr>
            <a:spLocks noGrp="1"/>
          </p:cNvSpPr>
          <p:nvPr>
            <p:ph type="body" sz="quarter" idx="20"/>
          </p:nvPr>
        </p:nvSpPr>
        <p:spPr/>
        <p:txBody>
          <a:bodyPr/>
          <a:lstStyle/>
          <a:p>
            <a:r>
              <a:rPr lang="en-US" i="1" dirty="0"/>
              <a:t>OpenAI’s documentation [48] recommends a temperature of 0.2 and ‘top p’ of 0.1 to achieve the most deterministic output for code related tasks. Similarly, the recommended ‘temperature’ value for all LLMs in our evaluation is 0.2.</a:t>
            </a:r>
          </a:p>
          <a:p>
            <a:endParaRPr lang="en-US" i="1" dirty="0"/>
          </a:p>
          <a:p>
            <a:r>
              <a:rPr lang="en-US" i="1" dirty="0"/>
              <a:t>[48] </a:t>
            </a:r>
            <a:r>
              <a:rPr lang="en-US" i="1" dirty="0">
                <a:hlinkClick r:id="rId2"/>
              </a:rPr>
              <a:t>https://community.openai.com/t/cheat-sheet-mastering-temperature-and-top-p-in-chatgpt-api/172683</a:t>
            </a:r>
            <a:endParaRPr lang="en-US" i="1" dirty="0"/>
          </a:p>
          <a:p>
            <a:endParaRPr lang="en-US" i="1" dirty="0"/>
          </a:p>
          <a:p>
            <a:endParaRPr lang="en-US" i="1" dirty="0"/>
          </a:p>
        </p:txBody>
      </p:sp>
      <p:sp>
        <p:nvSpPr>
          <p:cNvPr id="4" name="Text Placeholder 3">
            <a:extLst>
              <a:ext uri="{FF2B5EF4-FFF2-40B4-BE49-F238E27FC236}">
                <a16:creationId xmlns:a16="http://schemas.microsoft.com/office/drawing/2014/main" id="{14C70543-6972-5B9F-0A6E-F671B47F5282}"/>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F908E78-C38B-FC69-6C70-6E7F4022265B}"/>
              </a:ext>
            </a:extLst>
          </p:cNvPr>
          <p:cNvSpPr>
            <a:spLocks noGrp="1"/>
          </p:cNvSpPr>
          <p:nvPr>
            <p:ph type="sldNum" sz="quarter" idx="17"/>
          </p:nvPr>
        </p:nvSpPr>
        <p:spPr/>
        <p:txBody>
          <a:bodyPr/>
          <a:lstStyle/>
          <a:p>
            <a:fld id="{86134D44-37F0-44A1-8A08-E9432A030C07}" type="slidenum">
              <a:rPr lang="en-US" smtClean="0"/>
              <a:pPr/>
              <a:t>27</a:t>
            </a:fld>
            <a:endParaRPr lang="en-US"/>
          </a:p>
        </p:txBody>
      </p:sp>
      <p:pic>
        <p:nvPicPr>
          <p:cNvPr id="6" name="Picture 5">
            <a:extLst>
              <a:ext uri="{FF2B5EF4-FFF2-40B4-BE49-F238E27FC236}">
                <a16:creationId xmlns:a16="http://schemas.microsoft.com/office/drawing/2014/main" id="{76DFA725-6625-6615-907D-1F4E4DAA13A4}"/>
              </a:ext>
            </a:extLst>
          </p:cNvPr>
          <p:cNvPicPr>
            <a:picLocks noChangeAspect="1"/>
          </p:cNvPicPr>
          <p:nvPr/>
        </p:nvPicPr>
        <p:blipFill>
          <a:blip r:embed="rId3"/>
          <a:stretch>
            <a:fillRect/>
          </a:stretch>
        </p:blipFill>
        <p:spPr>
          <a:xfrm>
            <a:off x="1169347" y="4018365"/>
            <a:ext cx="4052654" cy="2114427"/>
          </a:xfrm>
          <a:prstGeom prst="rect">
            <a:avLst/>
          </a:prstGeom>
        </p:spPr>
      </p:pic>
      <p:pic>
        <p:nvPicPr>
          <p:cNvPr id="7" name="Picture 6">
            <a:extLst>
              <a:ext uri="{FF2B5EF4-FFF2-40B4-BE49-F238E27FC236}">
                <a16:creationId xmlns:a16="http://schemas.microsoft.com/office/drawing/2014/main" id="{9BD13839-7BD8-82E0-7F39-D0EEE6AA431E}"/>
              </a:ext>
            </a:extLst>
          </p:cNvPr>
          <p:cNvPicPr>
            <a:picLocks noChangeAspect="1"/>
          </p:cNvPicPr>
          <p:nvPr/>
        </p:nvPicPr>
        <p:blipFill>
          <a:blip r:embed="rId4"/>
          <a:stretch>
            <a:fillRect/>
          </a:stretch>
        </p:blipFill>
        <p:spPr>
          <a:xfrm>
            <a:off x="5738885" y="4545266"/>
            <a:ext cx="5359272" cy="1060624"/>
          </a:xfrm>
          <a:prstGeom prst="rect">
            <a:avLst/>
          </a:prstGeom>
        </p:spPr>
      </p:pic>
    </p:spTree>
    <p:extLst>
      <p:ext uri="{BB962C8B-B14F-4D97-AF65-F5344CB8AC3E}">
        <p14:creationId xmlns:p14="http://schemas.microsoft.com/office/powerpoint/2010/main" val="3634630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D7073-0241-5E9E-6617-E6FFB0B9B705}"/>
              </a:ext>
            </a:extLst>
          </p:cNvPr>
          <p:cNvSpPr>
            <a:spLocks noGrp="1"/>
          </p:cNvSpPr>
          <p:nvPr>
            <p:ph type="title"/>
          </p:nvPr>
        </p:nvSpPr>
        <p:spPr/>
        <p:txBody>
          <a:bodyPr/>
          <a:lstStyle/>
          <a:p>
            <a:r>
              <a:rPr lang="en-US" dirty="0"/>
              <a:t>Experiment 2: Performance Over Range of Parameters</a:t>
            </a:r>
          </a:p>
        </p:txBody>
      </p:sp>
      <p:sp>
        <p:nvSpPr>
          <p:cNvPr id="3" name="Text Placeholder 2">
            <a:extLst>
              <a:ext uri="{FF2B5EF4-FFF2-40B4-BE49-F238E27FC236}">
                <a16:creationId xmlns:a16="http://schemas.microsoft.com/office/drawing/2014/main" id="{7454675E-DD3C-58B0-1BB5-2B585C90122D}"/>
              </a:ext>
            </a:extLst>
          </p:cNvPr>
          <p:cNvSpPr>
            <a:spLocks noGrp="1"/>
          </p:cNvSpPr>
          <p:nvPr>
            <p:ph type="body" sz="quarter" idx="20"/>
          </p:nvPr>
        </p:nvSpPr>
        <p:spPr/>
        <p:txBody>
          <a:bodyPr/>
          <a:lstStyle/>
          <a:p>
            <a:pPr marL="342900" indent="-342900">
              <a:buFont typeface="Arial" panose="020B0604020202020204" pitchFamily="34" charset="0"/>
              <a:buChar char="•"/>
            </a:pPr>
            <a:r>
              <a:rPr lang="en-US" dirty="0"/>
              <a:t>Change temperature: {0.0, 0.25. 0.5, 0.75. 1.0}</a:t>
            </a:r>
          </a:p>
          <a:p>
            <a:pPr marL="342900" indent="-342900">
              <a:buFont typeface="Arial" panose="020B0604020202020204" pitchFamily="34" charset="0"/>
              <a:buChar char="•"/>
            </a:pPr>
            <a:r>
              <a:rPr lang="en-US" dirty="0"/>
              <a:t>Keep a fixed low and fixed </a:t>
            </a:r>
            <a:r>
              <a:rPr lang="en-US" dirty="0" err="1"/>
              <a:t>top_p</a:t>
            </a:r>
            <a:r>
              <a:rPr lang="en-US" dirty="0"/>
              <a:t> (specific to LLM)</a:t>
            </a:r>
          </a:p>
          <a:p>
            <a:pPr marL="342900" indent="-342900">
              <a:buFont typeface="Arial" panose="020B0604020202020204" pitchFamily="34" charset="0"/>
              <a:buChar char="•"/>
            </a:pPr>
            <a:r>
              <a:rPr lang="en-US" dirty="0"/>
              <a:t>General conclusion:</a:t>
            </a:r>
          </a:p>
          <a:p>
            <a:pPr marL="1028700" lvl="1" indent="-342900"/>
            <a:endParaRPr lang="en-US" dirty="0"/>
          </a:p>
        </p:txBody>
      </p:sp>
      <p:sp>
        <p:nvSpPr>
          <p:cNvPr id="4" name="Text Placeholder 3">
            <a:extLst>
              <a:ext uri="{FF2B5EF4-FFF2-40B4-BE49-F238E27FC236}">
                <a16:creationId xmlns:a16="http://schemas.microsoft.com/office/drawing/2014/main" id="{58A6FE67-DFCA-2B4E-0F58-89BAC4F31037}"/>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3CAD0EEA-8918-9AE1-858E-746686F7C52F}"/>
              </a:ext>
            </a:extLst>
          </p:cNvPr>
          <p:cNvSpPr>
            <a:spLocks noGrp="1"/>
          </p:cNvSpPr>
          <p:nvPr>
            <p:ph type="sldNum" sz="quarter" idx="17"/>
          </p:nvPr>
        </p:nvSpPr>
        <p:spPr/>
        <p:txBody>
          <a:bodyPr/>
          <a:lstStyle/>
          <a:p>
            <a:fld id="{86134D44-37F0-44A1-8A08-E9432A030C07}" type="slidenum">
              <a:rPr lang="en-US" smtClean="0"/>
              <a:pPr/>
              <a:t>28</a:t>
            </a:fld>
            <a:endParaRPr lang="en-US"/>
          </a:p>
        </p:txBody>
      </p:sp>
      <p:pic>
        <p:nvPicPr>
          <p:cNvPr id="8" name="Picture 7">
            <a:extLst>
              <a:ext uri="{FF2B5EF4-FFF2-40B4-BE49-F238E27FC236}">
                <a16:creationId xmlns:a16="http://schemas.microsoft.com/office/drawing/2014/main" id="{55A34E92-7596-9B8C-9605-15FD85DE184D}"/>
              </a:ext>
            </a:extLst>
          </p:cNvPr>
          <p:cNvPicPr>
            <a:picLocks noChangeAspect="1"/>
          </p:cNvPicPr>
          <p:nvPr/>
        </p:nvPicPr>
        <p:blipFill>
          <a:blip r:embed="rId2"/>
          <a:stretch>
            <a:fillRect/>
          </a:stretch>
        </p:blipFill>
        <p:spPr>
          <a:xfrm>
            <a:off x="2705100" y="3267636"/>
            <a:ext cx="6781800" cy="2311400"/>
          </a:xfrm>
          <a:prstGeom prst="rect">
            <a:avLst/>
          </a:prstGeom>
        </p:spPr>
      </p:pic>
    </p:spTree>
    <p:extLst>
      <p:ext uri="{BB962C8B-B14F-4D97-AF65-F5344CB8AC3E}">
        <p14:creationId xmlns:p14="http://schemas.microsoft.com/office/powerpoint/2010/main" val="2743805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3F27-2E5A-A3AC-EC65-4590B43D7DB4}"/>
              </a:ext>
            </a:extLst>
          </p:cNvPr>
          <p:cNvSpPr>
            <a:spLocks noGrp="1"/>
          </p:cNvSpPr>
          <p:nvPr>
            <p:ph type="title"/>
          </p:nvPr>
        </p:nvSpPr>
        <p:spPr/>
        <p:txBody>
          <a:bodyPr/>
          <a:lstStyle/>
          <a:p>
            <a:r>
              <a:rPr lang="en-US" dirty="0"/>
              <a:t>Experiment 3: Diversity of prompts</a:t>
            </a:r>
          </a:p>
        </p:txBody>
      </p:sp>
      <p:pic>
        <p:nvPicPr>
          <p:cNvPr id="7" name="Picture 6">
            <a:extLst>
              <a:ext uri="{FF2B5EF4-FFF2-40B4-BE49-F238E27FC236}">
                <a16:creationId xmlns:a16="http://schemas.microsoft.com/office/drawing/2014/main" id="{178AD21D-A784-08A5-FAB6-A36BE6FF11E6}"/>
              </a:ext>
            </a:extLst>
          </p:cNvPr>
          <p:cNvPicPr>
            <a:picLocks noChangeAspect="1"/>
          </p:cNvPicPr>
          <p:nvPr/>
        </p:nvPicPr>
        <p:blipFill>
          <a:blip r:embed="rId2"/>
          <a:stretch>
            <a:fillRect/>
          </a:stretch>
        </p:blipFill>
        <p:spPr>
          <a:xfrm>
            <a:off x="6786015" y="1466395"/>
            <a:ext cx="4567785" cy="4378179"/>
          </a:xfrm>
          <a:prstGeom prst="rect">
            <a:avLst/>
          </a:prstGeom>
        </p:spPr>
      </p:pic>
      <p:sp>
        <p:nvSpPr>
          <p:cNvPr id="3" name="Text Placeholder 2">
            <a:extLst>
              <a:ext uri="{FF2B5EF4-FFF2-40B4-BE49-F238E27FC236}">
                <a16:creationId xmlns:a16="http://schemas.microsoft.com/office/drawing/2014/main" id="{5CCF62D4-944E-F2E8-7C8B-32D3C7F7ABDD}"/>
              </a:ext>
            </a:extLst>
          </p:cNvPr>
          <p:cNvSpPr>
            <a:spLocks noGrp="1"/>
          </p:cNvSpPr>
          <p:nvPr>
            <p:ph type="body" sz="quarter" idx="20"/>
          </p:nvPr>
        </p:nvSpPr>
        <p:spPr/>
        <p:txBody>
          <a:bodyPr/>
          <a:lstStyle/>
          <a:p>
            <a:pPr marL="342900" indent="-342900">
              <a:buFont typeface="Arial" panose="020B0604020202020204" pitchFamily="34" charset="0"/>
              <a:buChar char="•"/>
            </a:pPr>
            <a:r>
              <a:rPr lang="en-US" sz="2200" dirty="0"/>
              <a:t>One value to measure the ability of LLM to </a:t>
            </a:r>
            <a:br>
              <a:rPr lang="en-US" sz="2200" dirty="0"/>
            </a:br>
            <a:r>
              <a:rPr lang="en-US" sz="2200" dirty="0"/>
              <a:t>respond across prompting structure, </a:t>
            </a:r>
            <a:br>
              <a:rPr lang="en-US" sz="2200" dirty="0"/>
            </a:br>
            <a:r>
              <a:rPr lang="en-US" sz="2200" dirty="0"/>
              <a:t>Interaction technique, style</a:t>
            </a:r>
          </a:p>
          <a:p>
            <a:pPr marL="342900" indent="-342900">
              <a:buFont typeface="Arial" panose="020B0604020202020204" pitchFamily="34" charset="0"/>
              <a:buChar char="•"/>
            </a:pPr>
            <a:r>
              <a:rPr lang="en-US" sz="2200" dirty="0"/>
              <a:t>Define three scores - &gt;</a:t>
            </a:r>
          </a:p>
          <a:p>
            <a:pPr marL="342900" indent="-342900">
              <a:buFont typeface="Arial" panose="020B0604020202020204" pitchFamily="34" charset="0"/>
              <a:buChar char="•"/>
            </a:pPr>
            <a:r>
              <a:rPr lang="en-US" sz="2200" b="1" dirty="0"/>
              <a:t>Score Rate: </a:t>
            </a:r>
            <a:r>
              <a:rPr lang="en-US" sz="2200" dirty="0"/>
              <a:t>Weighted sum of the three metrics</a:t>
            </a:r>
          </a:p>
          <a:p>
            <a:pPr marL="342900" indent="-342900">
              <a:buFont typeface="Arial" panose="020B0604020202020204" pitchFamily="34" charset="0"/>
              <a:buChar char="•"/>
            </a:pPr>
            <a:r>
              <a:rPr lang="en-US" sz="2200" dirty="0"/>
              <a:t>Conclusion</a:t>
            </a:r>
          </a:p>
          <a:p>
            <a:pPr marL="1028700" lvl="1" indent="-342900"/>
            <a:r>
              <a:rPr lang="en-US" sz="2200" dirty="0"/>
              <a:t>No LLM performs better across prompts</a:t>
            </a:r>
          </a:p>
          <a:p>
            <a:pPr marL="1028700" lvl="1" indent="-342900"/>
            <a:r>
              <a:rPr lang="en-US" sz="2000" dirty="0"/>
              <a:t>GPT4 performs the best</a:t>
            </a:r>
          </a:p>
          <a:p>
            <a:pPr marL="1028700" lvl="1" indent="-342900"/>
            <a:r>
              <a:rPr lang="en-US" sz="2000" dirty="0"/>
              <a:t>Others perform better in specific conditions</a:t>
            </a:r>
          </a:p>
          <a:p>
            <a:pPr marL="1485900" lvl="2" indent="-342900"/>
            <a:r>
              <a:rPr lang="en-US" sz="1600" dirty="0"/>
              <a:t>codeLLama34b when vulnerability </a:t>
            </a:r>
            <a:br>
              <a:rPr lang="en-US" sz="1600" dirty="0"/>
            </a:br>
            <a:r>
              <a:rPr lang="en-US" sz="1600" dirty="0"/>
              <a:t>definition is present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E7BF15DD-B735-D3ED-BA12-C57E10D8767C}"/>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4BD25F35-6A09-6BAC-F71B-D66E18361DDA}"/>
              </a:ext>
            </a:extLst>
          </p:cNvPr>
          <p:cNvSpPr>
            <a:spLocks noGrp="1"/>
          </p:cNvSpPr>
          <p:nvPr>
            <p:ph type="sldNum" sz="quarter" idx="17"/>
          </p:nvPr>
        </p:nvSpPr>
        <p:spPr/>
        <p:txBody>
          <a:bodyPr/>
          <a:lstStyle/>
          <a:p>
            <a:fld id="{86134D44-37F0-44A1-8A08-E9432A030C07}" type="slidenum">
              <a:rPr lang="en-US" smtClean="0"/>
              <a:pPr/>
              <a:t>29</a:t>
            </a:fld>
            <a:endParaRPr lang="en-US" dirty="0"/>
          </a:p>
        </p:txBody>
      </p:sp>
    </p:spTree>
    <p:extLst>
      <p:ext uri="{BB962C8B-B14F-4D97-AF65-F5344CB8AC3E}">
        <p14:creationId xmlns:p14="http://schemas.microsoft.com/office/powerpoint/2010/main" val="1636432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36D60-A50A-412D-76FD-DA6C44C20EE5}"/>
              </a:ext>
            </a:extLst>
          </p:cNvPr>
          <p:cNvSpPr>
            <a:spLocks noGrp="1"/>
          </p:cNvSpPr>
          <p:nvPr>
            <p:ph type="title"/>
          </p:nvPr>
        </p:nvSpPr>
        <p:spPr/>
        <p:txBody>
          <a:bodyPr/>
          <a:lstStyle/>
          <a:p>
            <a:r>
              <a:rPr lang="en-US" dirty="0"/>
              <a:t>Experiment 4: Faithful reasoning</a:t>
            </a:r>
          </a:p>
        </p:txBody>
      </p:sp>
      <p:sp>
        <p:nvSpPr>
          <p:cNvPr id="3" name="Text Placeholder 2">
            <a:extLst>
              <a:ext uri="{FF2B5EF4-FFF2-40B4-BE49-F238E27FC236}">
                <a16:creationId xmlns:a16="http://schemas.microsoft.com/office/drawing/2014/main" id="{D7124BDF-DAB6-E771-6F7A-E573C91D73D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Key questions:</a:t>
            </a:r>
          </a:p>
          <a:p>
            <a:pPr marL="1028700" lvl="1" indent="-342900"/>
            <a:r>
              <a:rPr lang="en-US" sz="2200" dirty="0"/>
              <a:t>Is reasoning present?</a:t>
            </a:r>
          </a:p>
          <a:p>
            <a:pPr marL="1028700" lvl="1" indent="-342900"/>
            <a:r>
              <a:rPr lang="en-US" sz="2200" dirty="0"/>
              <a:t>Does reasoning align with ground truth?</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For some LLMs (PALM2) no reasoning</a:t>
            </a:r>
          </a:p>
          <a:p>
            <a:pPr marL="342900" indent="-342900">
              <a:buFont typeface="Arial" panose="020B0604020202020204" pitchFamily="34" charset="0"/>
              <a:buChar char="•"/>
            </a:pPr>
            <a:r>
              <a:rPr lang="en-US" sz="2200" dirty="0"/>
              <a:t>For every LLM, some cases -&gt; right answer</a:t>
            </a:r>
            <a:br>
              <a:rPr lang="en-US" sz="2200" dirty="0"/>
            </a:br>
            <a:r>
              <a:rPr lang="en-US" sz="2200" dirty="0"/>
              <a:t>but unfaithful reasoning</a:t>
            </a:r>
          </a:p>
          <a:p>
            <a:pPr marL="342900" indent="-342900">
              <a:buFont typeface="Arial" panose="020B0604020202020204" pitchFamily="34" charset="0"/>
              <a:buChar char="•"/>
            </a:pPr>
            <a:endParaRPr lang="en-US" sz="2200" dirty="0"/>
          </a:p>
          <a:p>
            <a:pPr lvl="1" indent="0">
              <a:buNone/>
            </a:pPr>
            <a:r>
              <a:rPr lang="en-US" sz="2200" dirty="0"/>
              <a:t>	</a:t>
            </a:r>
          </a:p>
          <a:p>
            <a:pPr lvl="1" indent="0">
              <a:buNone/>
            </a:pPr>
            <a:endParaRPr lang="en-US" sz="2200" dirty="0"/>
          </a:p>
          <a:p>
            <a:pPr marL="342900" indent="-342900">
              <a:buFont typeface="Arial" panose="020B0604020202020204" pitchFamily="34" charset="0"/>
              <a:buChar char="•"/>
            </a:pPr>
            <a:endParaRPr lang="en-US" sz="2200" dirty="0"/>
          </a:p>
        </p:txBody>
      </p:sp>
      <p:sp>
        <p:nvSpPr>
          <p:cNvPr id="4" name="Text Placeholder 3">
            <a:extLst>
              <a:ext uri="{FF2B5EF4-FFF2-40B4-BE49-F238E27FC236}">
                <a16:creationId xmlns:a16="http://schemas.microsoft.com/office/drawing/2014/main" id="{B5E8AB5C-87A3-5804-8D23-857CBF9825E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F6D385A7-D654-35CE-239D-D106A6421093}"/>
              </a:ext>
            </a:extLst>
          </p:cNvPr>
          <p:cNvSpPr>
            <a:spLocks noGrp="1"/>
          </p:cNvSpPr>
          <p:nvPr>
            <p:ph type="sldNum" sz="quarter" idx="17"/>
          </p:nvPr>
        </p:nvSpPr>
        <p:spPr/>
        <p:txBody>
          <a:bodyPr/>
          <a:lstStyle/>
          <a:p>
            <a:fld id="{86134D44-37F0-44A1-8A08-E9432A030C07}" type="slidenum">
              <a:rPr lang="en-US" smtClean="0"/>
              <a:pPr/>
              <a:t>30</a:t>
            </a:fld>
            <a:endParaRPr lang="en-US"/>
          </a:p>
        </p:txBody>
      </p:sp>
      <p:pic>
        <p:nvPicPr>
          <p:cNvPr id="6" name="Picture 5">
            <a:extLst>
              <a:ext uri="{FF2B5EF4-FFF2-40B4-BE49-F238E27FC236}">
                <a16:creationId xmlns:a16="http://schemas.microsoft.com/office/drawing/2014/main" id="{38E1ACC9-C7DC-63A3-1779-B2C9C23D3603}"/>
              </a:ext>
            </a:extLst>
          </p:cNvPr>
          <p:cNvPicPr>
            <a:picLocks noChangeAspect="1"/>
          </p:cNvPicPr>
          <p:nvPr/>
        </p:nvPicPr>
        <p:blipFill>
          <a:blip r:embed="rId2"/>
          <a:stretch>
            <a:fillRect/>
          </a:stretch>
        </p:blipFill>
        <p:spPr>
          <a:xfrm>
            <a:off x="6159300" y="3043486"/>
            <a:ext cx="5645181" cy="2565991"/>
          </a:xfrm>
          <a:prstGeom prst="rect">
            <a:avLst/>
          </a:prstGeom>
        </p:spPr>
      </p:pic>
    </p:spTree>
    <p:extLst>
      <p:ext uri="{BB962C8B-B14F-4D97-AF65-F5344CB8AC3E}">
        <p14:creationId xmlns:p14="http://schemas.microsoft.com/office/powerpoint/2010/main" val="1255753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6C07-8871-A6F3-CD99-22D5CF9D7251}"/>
              </a:ext>
            </a:extLst>
          </p:cNvPr>
          <p:cNvSpPr>
            <a:spLocks noGrp="1"/>
          </p:cNvSpPr>
          <p:nvPr>
            <p:ph type="title"/>
          </p:nvPr>
        </p:nvSpPr>
        <p:spPr/>
        <p:txBody>
          <a:bodyPr/>
          <a:lstStyle/>
          <a:p>
            <a:r>
              <a:rPr lang="en-US" dirty="0"/>
              <a:t>Experiment 5: Evaluation Over Variety of Vulnerabilities + Real world deployment</a:t>
            </a:r>
          </a:p>
        </p:txBody>
      </p:sp>
      <p:sp>
        <p:nvSpPr>
          <p:cNvPr id="3" name="Text Placeholder 2">
            <a:extLst>
              <a:ext uri="{FF2B5EF4-FFF2-40B4-BE49-F238E27FC236}">
                <a16:creationId xmlns:a16="http://schemas.microsoft.com/office/drawing/2014/main" id="{CBCA62AA-D5A7-82DB-08BC-3C9D0358C2F1}"/>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Major observations:</a:t>
            </a:r>
          </a:p>
          <a:p>
            <a:pPr marL="1028700" lvl="1" indent="-342900"/>
            <a:r>
              <a:rPr lang="en-US" sz="2200" dirty="0"/>
              <a:t>Many false positives -&gt; patched cases classified incorrectly</a:t>
            </a:r>
          </a:p>
          <a:p>
            <a:pPr marL="1028700" lvl="1" indent="-342900"/>
            <a:r>
              <a:rPr lang="en-US" sz="2200" dirty="0"/>
              <a:t>Few-show prompting helps across vulnerabilities </a:t>
            </a:r>
            <a:r>
              <a:rPr lang="en-US" sz="2200" b="1" dirty="0"/>
              <a:t>but does not help for real-world CWE’s</a:t>
            </a:r>
          </a:p>
          <a:p>
            <a:pPr marL="1028700" lvl="1" indent="-342900"/>
            <a:r>
              <a:rPr lang="en-US" sz="2200" dirty="0"/>
              <a:t>Role-oriented prompts better Task Oriented prompts</a:t>
            </a:r>
          </a:p>
        </p:txBody>
      </p:sp>
      <p:sp>
        <p:nvSpPr>
          <p:cNvPr id="4" name="Text Placeholder 3">
            <a:extLst>
              <a:ext uri="{FF2B5EF4-FFF2-40B4-BE49-F238E27FC236}">
                <a16:creationId xmlns:a16="http://schemas.microsoft.com/office/drawing/2014/main" id="{5ECD8A9E-39A7-13F7-F922-0ECB1048D405}"/>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E3342A3-EB7C-3F15-0A6C-31400CE9146B}"/>
              </a:ext>
            </a:extLst>
          </p:cNvPr>
          <p:cNvSpPr>
            <a:spLocks noGrp="1"/>
          </p:cNvSpPr>
          <p:nvPr>
            <p:ph type="sldNum" sz="quarter" idx="17"/>
          </p:nvPr>
        </p:nvSpPr>
        <p:spPr/>
        <p:txBody>
          <a:bodyPr/>
          <a:lstStyle/>
          <a:p>
            <a:fld id="{86134D44-37F0-44A1-8A08-E9432A030C07}" type="slidenum">
              <a:rPr lang="en-US" smtClean="0"/>
              <a:pPr/>
              <a:t>31</a:t>
            </a:fld>
            <a:endParaRPr lang="en-US"/>
          </a:p>
        </p:txBody>
      </p:sp>
    </p:spTree>
    <p:extLst>
      <p:ext uri="{BB962C8B-B14F-4D97-AF65-F5344CB8AC3E}">
        <p14:creationId xmlns:p14="http://schemas.microsoft.com/office/powerpoint/2010/main" val="3148917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4FE7-33E2-4243-1A40-0831B7023940}"/>
              </a:ext>
            </a:extLst>
          </p:cNvPr>
          <p:cNvSpPr>
            <a:spLocks noGrp="1"/>
          </p:cNvSpPr>
          <p:nvPr>
            <p:ph type="title"/>
          </p:nvPr>
        </p:nvSpPr>
        <p:spPr/>
        <p:txBody>
          <a:bodyPr/>
          <a:lstStyle/>
          <a:p>
            <a:r>
              <a:rPr lang="en-US" dirty="0"/>
              <a:t>Experiment 6: Robustness to Code Augmentations</a:t>
            </a:r>
          </a:p>
        </p:txBody>
      </p:sp>
      <p:sp>
        <p:nvSpPr>
          <p:cNvPr id="3" name="Text Placeholder 2">
            <a:extLst>
              <a:ext uri="{FF2B5EF4-FFF2-40B4-BE49-F238E27FC236}">
                <a16:creationId xmlns:a16="http://schemas.microsoft.com/office/drawing/2014/main" id="{A6B7D6AF-C687-CC10-FBD6-69103B6F55DD}"/>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Trivial augmentations can lead to incorrect answer and reasoning</a:t>
            </a:r>
          </a:p>
          <a:p>
            <a:pPr marL="342900" indent="-342900">
              <a:buFont typeface="Arial" panose="020B0604020202020204" pitchFamily="34" charset="0"/>
              <a:buChar char="•"/>
            </a:pPr>
            <a:r>
              <a:rPr lang="en-US" sz="2200" dirty="0"/>
              <a:t>One of the most effective trivial techniques -&gt; changing function names </a:t>
            </a:r>
          </a:p>
          <a:p>
            <a:pPr marL="342900" indent="-342900">
              <a:buFont typeface="Arial" panose="020B0604020202020204" pitchFamily="34" charset="0"/>
              <a:buChar char="•"/>
            </a:pPr>
            <a:r>
              <a:rPr lang="en-US" sz="2200" dirty="0"/>
              <a:t>Non-trivial augmentations degrade model performance</a:t>
            </a:r>
          </a:p>
          <a:p>
            <a:pPr marL="342900" indent="-342900">
              <a:buFont typeface="Arial" panose="020B0604020202020204" pitchFamily="34" charset="0"/>
              <a:buChar char="•"/>
            </a:pPr>
            <a:r>
              <a:rPr lang="en-US" sz="2200" dirty="0"/>
              <a:t>“LLMs present a bias towards library functions that are usually used for sanitization or are considered potentially vulnerable.</a:t>
            </a:r>
          </a:p>
          <a:p>
            <a:pPr marL="1028700" lvl="1" indent="-342900"/>
            <a:r>
              <a:rPr lang="en-US" sz="2200" dirty="0" err="1"/>
              <a:t>Strcat</a:t>
            </a:r>
            <a:r>
              <a:rPr lang="en-US" sz="2200" dirty="0"/>
              <a:t> in C -&gt; used safely -&gt; marked as unsafe by all LLMs</a:t>
            </a:r>
          </a:p>
          <a:p>
            <a:pPr marL="1028700" lvl="1" indent="-342900"/>
            <a:r>
              <a:rPr lang="en-US" sz="2200" dirty="0"/>
              <a:t>Escape in python -&gt; used unsafely -&gt; marked as safe by all LLMs</a:t>
            </a:r>
          </a:p>
          <a:p>
            <a:pPr lvl="1" indent="0">
              <a:buNone/>
            </a:pPr>
            <a:br>
              <a:rPr lang="en-US" sz="2200" dirty="0"/>
            </a:br>
            <a:endParaRPr lang="en-US" sz="2200" dirty="0"/>
          </a:p>
        </p:txBody>
      </p:sp>
      <p:sp>
        <p:nvSpPr>
          <p:cNvPr id="4" name="Text Placeholder 3">
            <a:extLst>
              <a:ext uri="{FF2B5EF4-FFF2-40B4-BE49-F238E27FC236}">
                <a16:creationId xmlns:a16="http://schemas.microsoft.com/office/drawing/2014/main" id="{427413F4-6EA7-A0F8-8381-52095243787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4EF32ED-97AC-8E9B-F902-7199E73FB87D}"/>
              </a:ext>
            </a:extLst>
          </p:cNvPr>
          <p:cNvSpPr>
            <a:spLocks noGrp="1"/>
          </p:cNvSpPr>
          <p:nvPr>
            <p:ph type="sldNum" sz="quarter" idx="17"/>
          </p:nvPr>
        </p:nvSpPr>
        <p:spPr/>
        <p:txBody>
          <a:bodyPr/>
          <a:lstStyle/>
          <a:p>
            <a:fld id="{86134D44-37F0-44A1-8A08-E9432A030C07}" type="slidenum">
              <a:rPr lang="en-US" smtClean="0"/>
              <a:pPr/>
              <a:t>32</a:t>
            </a:fld>
            <a:endParaRPr lang="en-US"/>
          </a:p>
        </p:txBody>
      </p:sp>
    </p:spTree>
    <p:extLst>
      <p:ext uri="{BB962C8B-B14F-4D97-AF65-F5344CB8AC3E}">
        <p14:creationId xmlns:p14="http://schemas.microsoft.com/office/powerpoint/2010/main" val="3681380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A4C1-7802-425E-6F14-60FCE5011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B71B0-6DA8-460D-D955-A8E3145EF70B}"/>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CA2EEE7B-F184-6CD9-8F2B-601CE1313D6B}"/>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5DD7DCF1-FD21-CBD5-023C-349093A3E2CF}"/>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43882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07F9-0C8A-B61C-437B-ECA2D8F4D995}"/>
              </a:ext>
            </a:extLst>
          </p:cNvPr>
          <p:cNvSpPr>
            <a:spLocks noGrp="1"/>
          </p:cNvSpPr>
          <p:nvPr>
            <p:ph type="title"/>
          </p:nvPr>
        </p:nvSpPr>
        <p:spPr/>
        <p:txBody>
          <a:bodyPr/>
          <a:lstStyle/>
          <a:p>
            <a:r>
              <a:rPr lang="en-US" dirty="0"/>
              <a:t>Discussion</a:t>
            </a:r>
          </a:p>
        </p:txBody>
      </p:sp>
      <p:sp>
        <p:nvSpPr>
          <p:cNvPr id="4" name="Text Placeholder 3">
            <a:extLst>
              <a:ext uri="{FF2B5EF4-FFF2-40B4-BE49-F238E27FC236}">
                <a16:creationId xmlns:a16="http://schemas.microsoft.com/office/drawing/2014/main" id="{AC5DAA95-A89E-4189-F3B6-FBECB9A0313D}"/>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83D089EF-1D40-DD71-2543-3B01EDBC947C}"/>
              </a:ext>
            </a:extLst>
          </p:cNvPr>
          <p:cNvSpPr>
            <a:spLocks noGrp="1"/>
          </p:cNvSpPr>
          <p:nvPr>
            <p:ph type="sldNum" sz="quarter" idx="17"/>
          </p:nvPr>
        </p:nvSpPr>
        <p:spPr/>
        <p:txBody>
          <a:bodyPr/>
          <a:lstStyle/>
          <a:p>
            <a:fld id="{86134D44-37F0-44A1-8A08-E9432A030C07}" type="slidenum">
              <a:rPr lang="en-US" smtClean="0"/>
              <a:pPr/>
              <a:t>34</a:t>
            </a:fld>
            <a:endParaRPr lang="en-US"/>
          </a:p>
        </p:txBody>
      </p:sp>
      <p:sp>
        <p:nvSpPr>
          <p:cNvPr id="6" name="AutoShape 2">
            <a:extLst>
              <a:ext uri="{FF2B5EF4-FFF2-40B4-BE49-F238E27FC236}">
                <a16:creationId xmlns:a16="http://schemas.microsoft.com/office/drawing/2014/main" id="{F9ED8341-C449-4DBE-D6F6-6F9995B9BB82}"/>
              </a:ext>
            </a:extLst>
          </p:cNvPr>
          <p:cNvSpPr>
            <a:spLocks noGrp="1" noChangeAspect="1" noChangeArrowheads="1"/>
          </p:cNvSpPr>
          <p:nvPr>
            <p:ph type="body" sz="quarter" idx="20"/>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342900" indent="-342900">
              <a:buFont typeface="Arial" panose="020B0604020202020204" pitchFamily="34" charset="0"/>
              <a:buChar char="•"/>
            </a:pPr>
            <a:r>
              <a:rPr lang="en-US" dirty="0"/>
              <a:t>Generally medium + some strong negative opinions on the paper</a:t>
            </a:r>
          </a:p>
        </p:txBody>
      </p:sp>
      <p:sp>
        <p:nvSpPr>
          <p:cNvPr id="8" name="AutoShape 6">
            <a:extLst>
              <a:ext uri="{FF2B5EF4-FFF2-40B4-BE49-F238E27FC236}">
                <a16:creationId xmlns:a16="http://schemas.microsoft.com/office/drawing/2014/main" id="{6B82EB76-4A23-C5EA-29F3-C5DDCC42EF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FB3E3457-45F1-1C98-0777-0A298FDF454A}"/>
              </a:ext>
            </a:extLst>
          </p:cNvPr>
          <p:cNvPicPr>
            <a:picLocks noChangeAspect="1"/>
          </p:cNvPicPr>
          <p:nvPr/>
        </p:nvPicPr>
        <p:blipFill>
          <a:blip r:embed="rId2"/>
          <a:stretch>
            <a:fillRect/>
          </a:stretch>
        </p:blipFill>
        <p:spPr>
          <a:xfrm>
            <a:off x="1344706" y="2181313"/>
            <a:ext cx="7978041" cy="3959118"/>
          </a:xfrm>
          <a:prstGeom prst="rect">
            <a:avLst/>
          </a:prstGeom>
        </p:spPr>
      </p:pic>
    </p:spTree>
    <p:extLst>
      <p:ext uri="{BB962C8B-B14F-4D97-AF65-F5344CB8AC3E}">
        <p14:creationId xmlns:p14="http://schemas.microsoft.com/office/powerpoint/2010/main" val="5215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D342-D2C9-BE2F-614E-05F878B4ECC5}"/>
              </a:ext>
            </a:extLst>
          </p:cNvPr>
          <p:cNvSpPr>
            <a:spLocks noGrp="1"/>
          </p:cNvSpPr>
          <p:nvPr>
            <p:ph type="title"/>
          </p:nvPr>
        </p:nvSpPr>
        <p:spPr/>
        <p:txBody>
          <a:bodyPr/>
          <a:lstStyle/>
          <a:p>
            <a:r>
              <a:rPr lang="en-US" dirty="0"/>
              <a:t>Strengths</a:t>
            </a:r>
          </a:p>
        </p:txBody>
      </p:sp>
      <p:sp>
        <p:nvSpPr>
          <p:cNvPr id="3" name="Text Placeholder 2">
            <a:extLst>
              <a:ext uri="{FF2B5EF4-FFF2-40B4-BE49-F238E27FC236}">
                <a16:creationId xmlns:a16="http://schemas.microsoft.com/office/drawing/2014/main" id="{E00839C6-45EC-93D7-266E-E731F958DCBE}"/>
              </a:ext>
            </a:extLst>
          </p:cNvPr>
          <p:cNvSpPr>
            <a:spLocks noGrp="1"/>
          </p:cNvSpPr>
          <p:nvPr>
            <p:ph type="body" sz="quarter" idx="20"/>
          </p:nvPr>
        </p:nvSpPr>
        <p:spPr/>
        <p:txBody>
          <a:bodyPr/>
          <a:lstStyle/>
          <a:p>
            <a:pPr marL="342900" indent="-342900">
              <a:buFont typeface="Arial" panose="020B0604020202020204" pitchFamily="34" charset="0"/>
              <a:buChar char="•"/>
            </a:pPr>
            <a:r>
              <a:rPr lang="en-US" b="1" dirty="0"/>
              <a:t>Addresses gap: </a:t>
            </a:r>
            <a:r>
              <a:rPr lang="en-US" dirty="0"/>
              <a:t>"This paper attempts to fill in that gap by introducing a benchmark framework, a standard which can be used to evaluate the performance of LLMs in this domain.”</a:t>
            </a:r>
          </a:p>
          <a:p>
            <a:pPr marL="342900" indent="-342900">
              <a:buFont typeface="Arial" panose="020B0604020202020204" pitchFamily="34" charset="0"/>
              <a:buChar char="•"/>
            </a:pPr>
            <a:r>
              <a:rPr lang="en-US" b="1" dirty="0"/>
              <a:t>Modular and Diverse Samples: </a:t>
            </a:r>
            <a:r>
              <a:rPr lang="en-US" dirty="0"/>
              <a:t>"Framework includes designing 228 code scenarios with varying difficulty levels to test LLMs and publicly release their dataset to allow for testing of newly developed LLMs”</a:t>
            </a:r>
          </a:p>
          <a:p>
            <a:pPr marL="342900" indent="-342900">
              <a:buFont typeface="Arial" panose="020B0604020202020204" pitchFamily="34" charset="0"/>
              <a:buChar char="•"/>
            </a:pPr>
            <a:r>
              <a:rPr lang="en-US" b="1" dirty="0"/>
              <a:t>Thorough experiments: “</a:t>
            </a:r>
            <a:r>
              <a:rPr lang="en-US" dirty="0"/>
              <a:t>Another positive point about this paper is that it uses eight different dimensions to assess the capabilities of the LLMs.”</a:t>
            </a:r>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3299887-9892-9090-5B1F-EC0AE7C1CF8E}"/>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6F7AFD8-CA76-4ACE-7CFC-9DB906CED1A3}"/>
              </a:ext>
            </a:extLst>
          </p:cNvPr>
          <p:cNvSpPr>
            <a:spLocks noGrp="1"/>
          </p:cNvSpPr>
          <p:nvPr>
            <p:ph type="sldNum" sz="quarter" idx="17"/>
          </p:nvPr>
        </p:nvSpPr>
        <p:spPr/>
        <p:txBody>
          <a:bodyPr/>
          <a:lstStyle/>
          <a:p>
            <a:fld id="{86134D44-37F0-44A1-8A08-E9432A030C07}" type="slidenum">
              <a:rPr lang="en-US" smtClean="0"/>
              <a:pPr/>
              <a:t>35</a:t>
            </a:fld>
            <a:endParaRPr lang="en-US"/>
          </a:p>
        </p:txBody>
      </p:sp>
    </p:spTree>
    <p:extLst>
      <p:ext uri="{BB962C8B-B14F-4D97-AF65-F5344CB8AC3E}">
        <p14:creationId xmlns:p14="http://schemas.microsoft.com/office/powerpoint/2010/main" val="3550354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3E9BA-6BCD-02B9-C90B-ABA6DF0AC236}"/>
              </a:ext>
            </a:extLst>
          </p:cNvPr>
          <p:cNvSpPr>
            <a:spLocks noGrp="1"/>
          </p:cNvSpPr>
          <p:nvPr>
            <p:ph type="title"/>
          </p:nvPr>
        </p:nvSpPr>
        <p:spPr/>
        <p:txBody>
          <a:bodyPr/>
          <a:lstStyle/>
          <a:p>
            <a:r>
              <a:rPr lang="en-US" dirty="0"/>
              <a:t>Weaknesses</a:t>
            </a:r>
          </a:p>
        </p:txBody>
      </p:sp>
      <p:sp>
        <p:nvSpPr>
          <p:cNvPr id="3" name="Text Placeholder 2">
            <a:extLst>
              <a:ext uri="{FF2B5EF4-FFF2-40B4-BE49-F238E27FC236}">
                <a16:creationId xmlns:a16="http://schemas.microsoft.com/office/drawing/2014/main" id="{BF8C8938-C416-A409-F8F3-559390098166}"/>
              </a:ext>
            </a:extLst>
          </p:cNvPr>
          <p:cNvSpPr>
            <a:spLocks noGrp="1"/>
          </p:cNvSpPr>
          <p:nvPr>
            <p:ph type="body" sz="quarter" idx="20"/>
          </p:nvPr>
        </p:nvSpPr>
        <p:spPr/>
        <p:txBody>
          <a:bodyPr>
            <a:normAutofit fontScale="92500" lnSpcReduction="20000"/>
          </a:bodyPr>
          <a:lstStyle/>
          <a:p>
            <a:pPr marL="342900" indent="-342900">
              <a:buFont typeface="Arial" panose="020B0604020202020204" pitchFamily="34" charset="0"/>
              <a:buChar char="•"/>
            </a:pPr>
            <a:r>
              <a:rPr lang="en-US" sz="2400" dirty="0"/>
              <a:t>Reasoning metric: </a:t>
            </a:r>
          </a:p>
          <a:p>
            <a:pPr marL="1028700" lvl="1" indent="-342900"/>
            <a:r>
              <a:rPr lang="en-US" sz="2000" dirty="0"/>
              <a:t>"Using an LLM as part of your reasoning metrics is not conducive to good research, correct?”</a:t>
            </a:r>
          </a:p>
          <a:p>
            <a:pPr marL="1028700" lvl="1" indent="-342900"/>
            <a:r>
              <a:rPr lang="en-US" sz="2000" dirty="0"/>
              <a:t>“Using GPT-4 as a reasoning metric is wild. Don't do that!”</a:t>
            </a:r>
          </a:p>
          <a:p>
            <a:pPr marL="1028700" lvl="1" indent="-342900"/>
            <a:r>
              <a:rPr lang="en-US" sz="2000" dirty="0"/>
              <a:t>“More consistent method in generating the ground truth labels, instead of having a subset be created by multiple security experts and the remaining by only one individual”</a:t>
            </a:r>
          </a:p>
          <a:p>
            <a:pPr marL="1028700" lvl="1" indent="-342900"/>
            <a:r>
              <a:rPr lang="en-US" sz="2000" dirty="0"/>
              <a:t>Is using ChatGPT a reliable way to parse responses from other </a:t>
            </a:r>
            <a:r>
              <a:rPr lang="en-US" sz="2000" dirty="0" err="1"/>
              <a:t>ChatGPTs</a:t>
            </a:r>
            <a:r>
              <a:rPr lang="en-US" sz="2000" dirty="0"/>
              <a:t>? There seems to be a conflict of interest.</a:t>
            </a:r>
          </a:p>
          <a:p>
            <a:pPr marL="342900" indent="-342900">
              <a:buFont typeface="Arial" panose="020B0604020202020204" pitchFamily="34" charset="0"/>
              <a:buChar char="•"/>
            </a:pPr>
            <a:r>
              <a:rPr lang="en-US" sz="2600" dirty="0"/>
              <a:t>Dataset:</a:t>
            </a:r>
          </a:p>
          <a:p>
            <a:pPr marL="1028700" lvl="1" indent="-342900"/>
            <a:r>
              <a:rPr lang="en-US" sz="2200" dirty="0"/>
              <a:t>“Include comments in real-world examples during testing. As noted in a prior paper, comments are very useful to LLMs when producing suggestions, so this seems like a big hit to fully evaluating the LLM in practice.”</a:t>
            </a:r>
          </a:p>
          <a:p>
            <a:pPr marL="1028700" lvl="1" indent="-342900"/>
            <a:r>
              <a:rPr lang="en-US" sz="2200" dirty="0"/>
              <a:t>“Instead of truncating code to meet input window limitations, future studies could simulate scenarios where entire files or interconnected codebases are analyzed, reflecting true developer workflows.”</a:t>
            </a:r>
          </a:p>
          <a:p>
            <a:pPr marL="1028700" lvl="1" indent="-342900"/>
            <a:r>
              <a:rPr lang="en-US" sz="2200" dirty="0"/>
              <a:t>“Don’t open-source anything”</a:t>
            </a:r>
          </a:p>
        </p:txBody>
      </p:sp>
      <p:sp>
        <p:nvSpPr>
          <p:cNvPr id="4" name="Text Placeholder 3">
            <a:extLst>
              <a:ext uri="{FF2B5EF4-FFF2-40B4-BE49-F238E27FC236}">
                <a16:creationId xmlns:a16="http://schemas.microsoft.com/office/drawing/2014/main" id="{1E68EF1C-27EA-6892-0BCD-AAD097E5A27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96CDDDD8-8C58-85A9-2207-528CEE564DA0}"/>
              </a:ext>
            </a:extLst>
          </p:cNvPr>
          <p:cNvSpPr>
            <a:spLocks noGrp="1"/>
          </p:cNvSpPr>
          <p:nvPr>
            <p:ph type="sldNum" sz="quarter" idx="17"/>
          </p:nvPr>
        </p:nvSpPr>
        <p:spPr/>
        <p:txBody>
          <a:bodyPr/>
          <a:lstStyle/>
          <a:p>
            <a:fld id="{86134D44-37F0-44A1-8A08-E9432A030C07}" type="slidenum">
              <a:rPr lang="en-US" smtClean="0"/>
              <a:pPr/>
              <a:t>36</a:t>
            </a:fld>
            <a:endParaRPr lang="en-US"/>
          </a:p>
        </p:txBody>
      </p:sp>
    </p:spTree>
    <p:extLst>
      <p:ext uri="{BB962C8B-B14F-4D97-AF65-F5344CB8AC3E}">
        <p14:creationId xmlns:p14="http://schemas.microsoft.com/office/powerpoint/2010/main" val="2444228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A875D-B19F-27CF-2504-14B12313D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F63A8-90D1-9D02-9230-E9C66FE509BA}"/>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4BD8D585-D93B-2B25-EFF7-A02E6D288F04}"/>
              </a:ext>
            </a:extLst>
          </p:cNvPr>
          <p:cNvSpPr>
            <a:spLocks noGrp="1"/>
          </p:cNvSpPr>
          <p:nvPr>
            <p:ph type="body" sz="quarter" idx="20"/>
          </p:nvPr>
        </p:nvSpPr>
        <p:spPr/>
        <p:txBody>
          <a:bodyPr>
            <a:noAutofit/>
          </a:bodyPr>
          <a:lstStyle/>
          <a:p>
            <a:pPr marL="457200" indent="-457200">
              <a:buFont typeface="Arial" panose="020B0604020202020204" pitchFamily="34" charset="0"/>
              <a:buChar char="•"/>
            </a:pPr>
            <a:r>
              <a:rPr lang="en-US" sz="2200" b="1" dirty="0"/>
              <a:t>New vulnerabilities: </a:t>
            </a:r>
            <a:r>
              <a:rPr lang="en-US" sz="2200" dirty="0"/>
              <a:t>“One discussion point for this paper would be whether LLMs can be used to detect zero-day vulnerabilities.”</a:t>
            </a:r>
          </a:p>
          <a:p>
            <a:pPr marL="457200" indent="-457200">
              <a:buFont typeface="Arial" panose="020B0604020202020204" pitchFamily="34" charset="0"/>
              <a:buChar char="•"/>
            </a:pPr>
            <a:r>
              <a:rPr lang="en-US" sz="2200" b="1" dirty="0"/>
              <a:t>Evaluation: </a:t>
            </a:r>
            <a:r>
              <a:rPr lang="en-US" sz="2200" dirty="0"/>
              <a:t>"Can we really rely on LLMs to code for us or evaluate our code wholly, even as they improve? Will they ever be good enough to remove humans from the loop?</a:t>
            </a:r>
          </a:p>
          <a:p>
            <a:pPr marL="457200" indent="-457200">
              <a:buFont typeface="Arial" panose="020B0604020202020204" pitchFamily="34" charset="0"/>
              <a:buChar char="•"/>
            </a:pPr>
            <a:r>
              <a:rPr lang="en-US" sz="2200" b="1" dirty="0"/>
              <a:t>New models:  </a:t>
            </a:r>
            <a:r>
              <a:rPr lang="en-US" sz="2200" dirty="0"/>
              <a:t>How do newer models work?</a:t>
            </a:r>
          </a:p>
          <a:p>
            <a:pPr marL="457200" indent="-457200">
              <a:buFont typeface="Arial" panose="020B0604020202020204" pitchFamily="34" charset="0"/>
              <a:buChar char="•"/>
            </a:pPr>
            <a:r>
              <a:rPr lang="en-US" sz="2200" dirty="0"/>
              <a:t>Applicability of LLMs in security</a:t>
            </a:r>
          </a:p>
          <a:p>
            <a:pPr marL="1143000" lvl="1" indent="-457200"/>
            <a:r>
              <a:rPr lang="en-US" sz="1800" dirty="0"/>
              <a:t>"Given how variable LLMs are, should we even be trying to apply them to security-oriented solutions?"</a:t>
            </a:r>
          </a:p>
          <a:p>
            <a:pPr marL="1143000" lvl="1" indent="-457200"/>
            <a:r>
              <a:rPr lang="en-US" sz="1800" dirty="0"/>
              <a:t>The core objective of LLMs is to generate the next token based on the input and the previously generated token sequences. They lack the ability to understand semantics and formal logic. From this perspective, I argue that LLMs are fundamentally unsuited for rigorous code analysis and vulnerability reasoning..”</a:t>
            </a:r>
          </a:p>
        </p:txBody>
      </p:sp>
      <p:sp>
        <p:nvSpPr>
          <p:cNvPr id="4" name="Text Placeholder 3">
            <a:extLst>
              <a:ext uri="{FF2B5EF4-FFF2-40B4-BE49-F238E27FC236}">
                <a16:creationId xmlns:a16="http://schemas.microsoft.com/office/drawing/2014/main" id="{5359DCAD-01FD-2941-795D-A06420F74EA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F1B1CAB-15CC-065B-B1B0-BF3CEDA9D0D0}"/>
              </a:ext>
            </a:extLst>
          </p:cNvPr>
          <p:cNvSpPr>
            <a:spLocks noGrp="1"/>
          </p:cNvSpPr>
          <p:nvPr>
            <p:ph type="sldNum" sz="quarter" idx="17"/>
          </p:nvPr>
        </p:nvSpPr>
        <p:spPr/>
        <p:txBody>
          <a:bodyPr/>
          <a:lstStyle/>
          <a:p>
            <a:fld id="{86134D44-37F0-44A1-8A08-E9432A030C07}" type="slidenum">
              <a:rPr lang="en-US" smtClean="0"/>
              <a:pPr/>
              <a:t>37</a:t>
            </a:fld>
            <a:endParaRPr lang="en-US"/>
          </a:p>
        </p:txBody>
      </p:sp>
    </p:spTree>
    <p:extLst>
      <p:ext uri="{BB962C8B-B14F-4D97-AF65-F5344CB8AC3E}">
        <p14:creationId xmlns:p14="http://schemas.microsoft.com/office/powerpoint/2010/main" val="2912727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0B92-9AD7-4B9E-7FA9-068790B34052}"/>
              </a:ext>
            </a:extLst>
          </p:cNvPr>
          <p:cNvSpPr>
            <a:spLocks noGrp="1"/>
          </p:cNvSpPr>
          <p:nvPr>
            <p:ph type="title"/>
          </p:nvPr>
        </p:nvSpPr>
        <p:spPr/>
        <p:txBody>
          <a:bodyPr/>
          <a:lstStyle/>
          <a:p>
            <a:r>
              <a:rPr lang="en-US" dirty="0"/>
              <a:t>Thanks!</a:t>
            </a:r>
          </a:p>
        </p:txBody>
      </p:sp>
      <p:sp>
        <p:nvSpPr>
          <p:cNvPr id="3" name="Text Placeholder 2">
            <a:extLst>
              <a:ext uri="{FF2B5EF4-FFF2-40B4-BE49-F238E27FC236}">
                <a16:creationId xmlns:a16="http://schemas.microsoft.com/office/drawing/2014/main" id="{BAB69137-844A-43F1-6958-D6168E6777F1}"/>
              </a:ext>
            </a:extLst>
          </p:cNvPr>
          <p:cNvSpPr>
            <a:spLocks noGrp="1"/>
          </p:cNvSpPr>
          <p:nvPr>
            <p:ph type="body" sz="quarter" idx="20"/>
          </p:nvPr>
        </p:nvSpPr>
        <p:spPr/>
        <p:txBody>
          <a:bodyPr/>
          <a:lstStyle/>
          <a:p>
            <a:endParaRPr lang="en-US" dirty="0"/>
          </a:p>
        </p:txBody>
      </p:sp>
      <p:sp>
        <p:nvSpPr>
          <p:cNvPr id="4" name="Text Placeholder 3">
            <a:extLst>
              <a:ext uri="{FF2B5EF4-FFF2-40B4-BE49-F238E27FC236}">
                <a16:creationId xmlns:a16="http://schemas.microsoft.com/office/drawing/2014/main" id="{339A3B93-6A01-D60E-E7E2-302FE91FD15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5D7A9BE-C419-504C-5002-4A6F4F623242}"/>
              </a:ext>
            </a:extLst>
          </p:cNvPr>
          <p:cNvSpPr>
            <a:spLocks noGrp="1"/>
          </p:cNvSpPr>
          <p:nvPr>
            <p:ph type="sldNum" sz="quarter" idx="17"/>
          </p:nvPr>
        </p:nvSpPr>
        <p:spPr/>
        <p:txBody>
          <a:bodyPr/>
          <a:lstStyle/>
          <a:p>
            <a:fld id="{86134D44-37F0-44A1-8A08-E9432A030C07}" type="slidenum">
              <a:rPr lang="en-US" smtClean="0"/>
              <a:pPr/>
              <a:t>38</a:t>
            </a:fld>
            <a:endParaRPr lang="en-US"/>
          </a:p>
        </p:txBody>
      </p:sp>
    </p:spTree>
    <p:extLst>
      <p:ext uri="{BB962C8B-B14F-4D97-AF65-F5344CB8AC3E}">
        <p14:creationId xmlns:p14="http://schemas.microsoft.com/office/powerpoint/2010/main" val="3280873598"/>
      </p:ext>
    </p:extLst>
  </p:cSld>
  <p:clrMapOvr>
    <a:masterClrMapping/>
  </p:clrMapOvr>
</p:sld>
</file>

<file path=ppt/theme/theme1.xml><?xml version="1.0" encoding="utf-8"?>
<a:theme xmlns:a="http://schemas.openxmlformats.org/drawingml/2006/main" name="Office Theme">
  <a:themeElements>
    <a:clrScheme name="SMB PPT ORANGE">
      <a:dk1>
        <a:srgbClr val="000000"/>
      </a:dk1>
      <a:lt1>
        <a:srgbClr val="FFFFFF"/>
      </a:lt1>
      <a:dk2>
        <a:srgbClr val="13294B"/>
      </a:dk2>
      <a:lt2>
        <a:srgbClr val="FF5F05"/>
      </a:lt2>
      <a:accent1>
        <a:srgbClr val="0071CE"/>
      </a:accent1>
      <a:accent2>
        <a:srgbClr val="FCB316"/>
      </a:accent2>
      <a:accent3>
        <a:srgbClr val="007E8E"/>
      </a:accent3>
      <a:accent4>
        <a:srgbClr val="006230"/>
      </a:accent4>
      <a:accent5>
        <a:srgbClr val="5C0E41"/>
      </a:accent5>
      <a:accent6>
        <a:srgbClr val="7D3E13"/>
      </a:accent6>
      <a:hlink>
        <a:srgbClr val="C84113"/>
      </a:hlink>
      <a:folHlink>
        <a:srgbClr val="2159A6"/>
      </a:folHlink>
    </a:clrScheme>
    <a:fontScheme name="SMB PPT">
      <a:majorFont>
        <a:latin typeface="Source Sans Pro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B PowerPoint Template V4" id="{B3CBA2D6-773F-894A-97CE-392945FF435E}" vid="{C086EF9A-8907-304D-A9A1-B52FE47F12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1493</TotalTime>
  <Words>2107</Words>
  <Application>Microsoft Macintosh PowerPoint</Application>
  <PresentationFormat>Widescreen</PresentationFormat>
  <Paragraphs>331</Paragraphs>
  <Slides>38</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Calibri</vt:lpstr>
      <vt:lpstr>Courier New</vt:lpstr>
      <vt:lpstr>Lucida Grande</vt:lpstr>
      <vt:lpstr>Open Sans</vt:lpstr>
      <vt:lpstr>Source Sans Pro</vt:lpstr>
      <vt:lpstr>Source Sans Pro SemiBold</vt:lpstr>
      <vt:lpstr>system-ui</vt:lpstr>
      <vt:lpstr>Office Theme</vt:lpstr>
      <vt:lpstr>LLMs Cannot Reliably Identify and Reason About Security Vulnerabilities (Yet?): A Comprehensive Evaluation, Framework, and Benchmarks</vt:lpstr>
      <vt:lpstr>Overview</vt:lpstr>
      <vt:lpstr>Motivation</vt:lpstr>
      <vt:lpstr>Motivation</vt:lpstr>
      <vt:lpstr>Motivation cntd …</vt:lpstr>
      <vt:lpstr>Challenges</vt:lpstr>
      <vt:lpstr>Framework Overview</vt:lpstr>
      <vt:lpstr>LLM Parameters</vt:lpstr>
      <vt:lpstr>LLM Parameters Cont…</vt:lpstr>
      <vt:lpstr>LLM Parameters Cont…</vt:lpstr>
      <vt:lpstr>LLM Parameters Cont…</vt:lpstr>
      <vt:lpstr>Prompt templates</vt:lpstr>
      <vt:lpstr>Dataset cont …</vt:lpstr>
      <vt:lpstr>Raw Dataset</vt:lpstr>
      <vt:lpstr>Raw Dataset</vt:lpstr>
      <vt:lpstr>Raw Dataset contd …</vt:lpstr>
      <vt:lpstr>Raw Dataset contd …</vt:lpstr>
      <vt:lpstr>Raw Dataset</vt:lpstr>
      <vt:lpstr>Evaluation </vt:lpstr>
      <vt:lpstr>Evaluation contd…</vt:lpstr>
      <vt:lpstr>Evaluation contd…</vt:lpstr>
      <vt:lpstr>Evaluation contd…</vt:lpstr>
      <vt:lpstr>Experiments</vt:lpstr>
      <vt:lpstr>Experiment 1: Evaluation for Deterministic Responses</vt:lpstr>
      <vt:lpstr>Experiment 1: Evaluation for Deterministic Responses</vt:lpstr>
      <vt:lpstr>Experiment 1: Evaluation for Deterministic Responses</vt:lpstr>
      <vt:lpstr>Experiment 1: Evaluation for Deterministic Responses</vt:lpstr>
      <vt:lpstr>Experiment 2: Performance Over Range of Parameters</vt:lpstr>
      <vt:lpstr>Experiment 3: Diversity of prompts</vt:lpstr>
      <vt:lpstr>Experiment 4: Faithful reasoning</vt:lpstr>
      <vt:lpstr>Experiment 5: Evaluation Over Variety of Vulnerabilities + Real world deployment</vt:lpstr>
      <vt:lpstr>Experiment 6: Robustness to Code Augmentations</vt:lpstr>
      <vt:lpstr>Discussion</vt:lpstr>
      <vt:lpstr>Discussion</vt:lpstr>
      <vt:lpstr>Strengths</vt:lpstr>
      <vt:lpstr>Weaknesses</vt:lpstr>
      <vt:lpstr>Discussion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 Bryan</dc:creator>
  <cp:lastModifiedBy>Nirav Diwan</cp:lastModifiedBy>
  <cp:revision>4</cp:revision>
  <dcterms:created xsi:type="dcterms:W3CDTF">2022-06-14T14:37:32Z</dcterms:created>
  <dcterms:modified xsi:type="dcterms:W3CDTF">2025-04-18T18:32:32Z</dcterms:modified>
</cp:coreProperties>
</file>